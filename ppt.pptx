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2" r:id="rId8"/>
    <p:sldId id="263" r:id="rId9"/>
    <p:sldId id="264" r:id="rId10"/>
    <p:sldId id="265" r:id="rId11"/>
    <p:sldId id="266" r:id="rId12"/>
    <p:sldId id="267" r:id="rId13"/>
    <p:sldId id="281" r:id="rId14"/>
    <p:sldId id="268" r:id="rId15"/>
    <p:sldId id="269" r:id="rId16"/>
    <p:sldId id="286" r:id="rId17"/>
    <p:sldId id="287" r:id="rId18"/>
    <p:sldId id="270" r:id="rId19"/>
    <p:sldId id="271" r:id="rId20"/>
    <p:sldId id="272" r:id="rId21"/>
    <p:sldId id="274" r:id="rId22"/>
    <p:sldId id="276" r:id="rId23"/>
    <p:sldId id="277" r:id="rId24"/>
    <p:sldId id="278" r:id="rId25"/>
    <p:sldId id="283" r:id="rId26"/>
    <p:sldId id="284" r:id="rId27"/>
    <p:sldId id="285" r:id="rId28"/>
    <p:sldId id="279" r:id="rId29"/>
    <p:sldId id="280" r:id="rId30"/>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6" d="100"/>
          <a:sy n="56" d="100"/>
        </p:scale>
        <p:origin x="610" y="58"/>
      </p:cViewPr>
      <p:guideLst>
        <p:guide orient="horz" pos="2880"/>
        <p:guide pos="2179"/>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0930" y="563320"/>
            <a:ext cx="6777990" cy="1245870"/>
          </a:xfrm>
          <a:prstGeom prst="rect">
            <a:avLst/>
          </a:prstGeom>
        </p:spPr>
        <p:txBody>
          <a:bodyPr wrap="square" lIns="0" tIns="0" rIns="0" bIns="0">
            <a:spAutoFit/>
          </a:bodyPr>
          <a:lstStyle>
            <a:lvl1pPr>
              <a:defRPr sz="9200" b="0" i="0">
                <a:solidFill>
                  <a:schemeClr val="tx1"/>
                </a:solidFill>
                <a:latin typeface="Arial Black" panose="020B0A04020102020204"/>
                <a:cs typeface="Arial Black" panose="020B0A04020102020204"/>
              </a:defRPr>
            </a:lvl1pPr>
          </a:lstStyle>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3500" b="0" i="0">
                <a:solidFill>
                  <a:schemeClr val="tx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200" b="0" i="0">
                <a:solidFill>
                  <a:schemeClr val="tx1"/>
                </a:solidFill>
                <a:latin typeface="Arial Black" panose="020B0A04020102020204"/>
                <a:cs typeface="Arial Black" panose="020B0A04020102020204"/>
              </a:defRPr>
            </a:lvl1pPr>
          </a:lstStyle>
          <a:p/>
        </p:txBody>
      </p:sp>
      <p:sp>
        <p:nvSpPr>
          <p:cNvPr id="3" name="Holder 3"/>
          <p:cNvSpPr>
            <a:spLocks noGrp="1"/>
          </p:cNvSpPr>
          <p:nvPr>
            <p:ph type="body" idx="1"/>
          </p:nvPr>
        </p:nvSpPr>
        <p:spPr/>
        <p:txBody>
          <a:bodyPr lIns="0" tIns="0" rIns="0" bIns="0"/>
          <a:lstStyle>
            <a:lvl1pPr>
              <a:defRPr sz="3500" b="0" i="0">
                <a:solidFill>
                  <a:schemeClr val="tx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200" b="0" i="0">
                <a:solidFill>
                  <a:schemeClr val="tx1"/>
                </a:solidFill>
                <a:latin typeface="Arial Black" panose="020B0A04020102020204"/>
                <a:cs typeface="Arial Black" panose="020B0A04020102020204"/>
              </a:defRPr>
            </a:lvl1pPr>
          </a:lstStyle>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200" b="0" i="0">
                <a:solidFill>
                  <a:schemeClr val="tx1"/>
                </a:solidFill>
                <a:latin typeface="Arial Black" panose="020B0A04020102020204"/>
                <a:cs typeface="Arial Black" panose="020B0A040201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a:fld>
            <a:endParaRPr lang="en-US"/>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1.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1"/>
            <a:ext cx="18286856" cy="10286364"/>
          </a:xfrm>
          <a:prstGeom prst="rect">
            <a:avLst/>
          </a:prstGeom>
        </p:spPr>
      </p:pic>
      <p:sp>
        <p:nvSpPr>
          <p:cNvPr id="2" name="Holder 2"/>
          <p:cNvSpPr>
            <a:spLocks noGrp="1"/>
          </p:cNvSpPr>
          <p:nvPr>
            <p:ph type="title"/>
          </p:nvPr>
        </p:nvSpPr>
        <p:spPr>
          <a:xfrm>
            <a:off x="1759966" y="-80620"/>
            <a:ext cx="15440025" cy="2761997"/>
          </a:xfrm>
          <a:prstGeom prst="rect">
            <a:avLst/>
          </a:prstGeom>
        </p:spPr>
        <p:txBody>
          <a:bodyPr wrap="square" lIns="0" tIns="0" rIns="0" bIns="0">
            <a:spAutoFit/>
          </a:bodyPr>
          <a:lstStyle>
            <a:lvl1pPr>
              <a:defRPr sz="9200" b="0" i="0">
                <a:solidFill>
                  <a:schemeClr val="tx1"/>
                </a:solidFill>
                <a:latin typeface="Arial Black" panose="020B0A04020102020204"/>
                <a:cs typeface="Arial Black" panose="020B0A04020102020204"/>
              </a:defRPr>
            </a:lvl1pPr>
          </a:lstStyle>
          <a:p/>
        </p:txBody>
      </p:sp>
      <p:sp>
        <p:nvSpPr>
          <p:cNvPr id="3" name="Holder 3"/>
          <p:cNvSpPr>
            <a:spLocks noGrp="1"/>
          </p:cNvSpPr>
          <p:nvPr>
            <p:ph type="body" idx="1"/>
          </p:nvPr>
        </p:nvSpPr>
        <p:spPr>
          <a:xfrm>
            <a:off x="970280" y="2844520"/>
            <a:ext cx="16304894" cy="5885840"/>
          </a:xfrm>
          <a:prstGeom prst="rect">
            <a:avLst/>
          </a:prstGeom>
        </p:spPr>
        <p:txBody>
          <a:bodyPr wrap="square" lIns="0" tIns="0" rIns="0" bIns="0">
            <a:spAutoFit/>
          </a:bodyPr>
          <a:lstStyle>
            <a:lvl1pPr>
              <a:defRPr sz="3500" b="0" i="0">
                <a:solidFill>
                  <a:schemeClr val="tx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jpeg"/><Relationship Id="rId1" Type="http://schemas.openxmlformats.org/officeDocument/2006/relationships/image" Target="../media/image11.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4.jpeg"/><Relationship Id="rId1" Type="http://schemas.openxmlformats.org/officeDocument/2006/relationships/image" Target="../media/image13.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5.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7687056" y="1699930"/>
            <a:ext cx="2803398" cy="1955800"/>
          </a:xfrm>
          <a:prstGeom prst="rect">
            <a:avLst/>
          </a:prstGeom>
        </p:spPr>
      </p:pic>
      <p:sp>
        <p:nvSpPr>
          <p:cNvPr id="3" name="object 3"/>
          <p:cNvSpPr txBox="1">
            <a:spLocks noGrp="1"/>
          </p:cNvSpPr>
          <p:nvPr>
            <p:ph type="title"/>
          </p:nvPr>
        </p:nvSpPr>
        <p:spPr>
          <a:xfrm>
            <a:off x="599304" y="-5255"/>
            <a:ext cx="17624533" cy="1614390"/>
          </a:xfrm>
          <a:prstGeom prst="rect">
            <a:avLst/>
          </a:prstGeom>
        </p:spPr>
        <p:txBody>
          <a:bodyPr vert="horz" wrap="square" lIns="0" tIns="928217" rIns="0" bIns="0" rtlCol="0" anchor="t">
            <a:spAutoFit/>
          </a:bodyPr>
          <a:lstStyle/>
          <a:p>
            <a:pPr marL="12700">
              <a:lnSpc>
                <a:spcPct val="100000"/>
              </a:lnSpc>
              <a:spcBef>
                <a:spcPts val="100"/>
              </a:spcBef>
            </a:pPr>
            <a:r>
              <a:rPr sz="4400" b="1" dirty="0">
                <a:latin typeface="Calibri" panose="020F0502020204030204"/>
                <a:cs typeface="Calibri" panose="020F0502020204030204"/>
              </a:rPr>
              <a:t>Security</a:t>
            </a:r>
            <a:r>
              <a:rPr sz="4400" b="1" spc="-130" dirty="0">
                <a:latin typeface="Calibri" panose="020F0502020204030204"/>
                <a:cs typeface="Calibri" panose="020F0502020204030204"/>
              </a:rPr>
              <a:t> </a:t>
            </a:r>
            <a:r>
              <a:rPr sz="4400" b="1" dirty="0">
                <a:latin typeface="Calibri" panose="020F0502020204030204"/>
                <a:cs typeface="Calibri" panose="020F0502020204030204"/>
              </a:rPr>
              <a:t>analysis</a:t>
            </a:r>
            <a:r>
              <a:rPr sz="4400" b="1" spc="-130" dirty="0">
                <a:latin typeface="Calibri" panose="020F0502020204030204"/>
                <a:cs typeface="Calibri" panose="020F0502020204030204"/>
              </a:rPr>
              <a:t> </a:t>
            </a:r>
            <a:r>
              <a:rPr sz="4400" b="1" dirty="0">
                <a:latin typeface="Calibri" panose="020F0502020204030204"/>
                <a:cs typeface="Calibri" panose="020F0502020204030204"/>
              </a:rPr>
              <a:t>of</a:t>
            </a:r>
            <a:r>
              <a:rPr sz="4400" b="1" spc="-130" dirty="0">
                <a:latin typeface="Calibri" panose="020F0502020204030204"/>
                <a:cs typeface="Calibri" panose="020F0502020204030204"/>
              </a:rPr>
              <a:t> </a:t>
            </a:r>
            <a:r>
              <a:rPr sz="4400" b="1" spc="-20" dirty="0">
                <a:latin typeface="+mj-lt"/>
                <a:cs typeface="Calibri" panose="020F0502020204030204"/>
              </a:rPr>
              <a:t>autonomous</a:t>
            </a:r>
            <a:r>
              <a:rPr sz="4400" b="1" spc="-135" dirty="0">
                <a:latin typeface="Calibri" panose="020F0502020204030204"/>
                <a:cs typeface="Calibri" panose="020F0502020204030204"/>
              </a:rPr>
              <a:t> </a:t>
            </a:r>
            <a:r>
              <a:rPr sz="4400" b="1" dirty="0">
                <a:latin typeface="Calibri" panose="020F0502020204030204"/>
                <a:cs typeface="Calibri" panose="020F0502020204030204"/>
              </a:rPr>
              <a:t>cyber</a:t>
            </a:r>
            <a:r>
              <a:rPr sz="4400" b="1" spc="-130" dirty="0">
                <a:latin typeface="Calibri" panose="020F0502020204030204"/>
                <a:cs typeface="Calibri" panose="020F0502020204030204"/>
              </a:rPr>
              <a:t> </a:t>
            </a:r>
            <a:r>
              <a:rPr sz="4400" b="1" spc="-10" dirty="0">
                <a:latin typeface="Calibri" panose="020F0502020204030204"/>
                <a:cs typeface="Calibri" panose="020F0502020204030204"/>
              </a:rPr>
              <a:t>physical</a:t>
            </a:r>
            <a:r>
              <a:rPr sz="4400" b="1" spc="-135" dirty="0">
                <a:latin typeface="Calibri" panose="020F0502020204030204"/>
                <a:cs typeface="Calibri" panose="020F0502020204030204"/>
              </a:rPr>
              <a:t> </a:t>
            </a:r>
            <a:r>
              <a:rPr sz="4400" b="1" dirty="0">
                <a:latin typeface="Calibri" panose="020F0502020204030204"/>
                <a:cs typeface="Calibri" panose="020F0502020204030204"/>
              </a:rPr>
              <a:t>systems</a:t>
            </a:r>
            <a:r>
              <a:rPr sz="4400" b="1" spc="-130" dirty="0">
                <a:latin typeface="Calibri" panose="020F0502020204030204"/>
                <a:cs typeface="Calibri" panose="020F0502020204030204"/>
              </a:rPr>
              <a:t> </a:t>
            </a:r>
            <a:r>
              <a:rPr sz="4400" b="1" dirty="0">
                <a:latin typeface="Calibri" panose="020F0502020204030204"/>
                <a:cs typeface="Calibri" panose="020F0502020204030204"/>
              </a:rPr>
              <a:t>using</a:t>
            </a:r>
            <a:r>
              <a:rPr sz="4400" b="1" spc="-130" dirty="0">
                <a:latin typeface="Calibri" panose="020F0502020204030204"/>
                <a:cs typeface="Calibri" panose="020F0502020204030204"/>
              </a:rPr>
              <a:t> </a:t>
            </a:r>
            <a:r>
              <a:rPr sz="4400" b="1" dirty="0">
                <a:latin typeface="Calibri" panose="020F0502020204030204"/>
                <a:cs typeface="Calibri" panose="020F0502020204030204"/>
              </a:rPr>
              <a:t>deep</a:t>
            </a:r>
            <a:r>
              <a:rPr sz="4400" b="1" spc="-130" dirty="0">
                <a:latin typeface="Calibri" panose="020F0502020204030204"/>
                <a:cs typeface="Calibri" panose="020F0502020204030204"/>
              </a:rPr>
              <a:t> </a:t>
            </a:r>
            <a:r>
              <a:rPr sz="4400" b="1" spc="-10" dirty="0">
                <a:latin typeface="Calibri" panose="020F0502020204030204"/>
                <a:cs typeface="Calibri" panose="020F0502020204030204"/>
              </a:rPr>
              <a:t>learning</a:t>
            </a:r>
            <a:endParaRPr lang="en-US" sz="4400">
              <a:latin typeface="Calibri" panose="020F0502020204030204"/>
              <a:ea typeface="Calibri" panose="020F0502020204030204"/>
              <a:cs typeface="Calibri" panose="020F0502020204030204"/>
            </a:endParaRPr>
          </a:p>
        </p:txBody>
      </p:sp>
      <p:sp>
        <p:nvSpPr>
          <p:cNvPr id="4" name="object 4"/>
          <p:cNvSpPr txBox="1"/>
          <p:nvPr/>
        </p:nvSpPr>
        <p:spPr>
          <a:xfrm>
            <a:off x="5489148" y="3912343"/>
            <a:ext cx="7839075" cy="1639103"/>
          </a:xfrm>
          <a:prstGeom prst="rect">
            <a:avLst/>
          </a:prstGeom>
        </p:spPr>
        <p:txBody>
          <a:bodyPr vert="horz" wrap="square" lIns="0" tIns="26670" rIns="0" bIns="0" rtlCol="0" anchor="t">
            <a:spAutoFit/>
          </a:bodyPr>
          <a:lstStyle/>
          <a:p>
            <a:pPr marL="12065" marR="2886075" algn="ctr">
              <a:lnSpc>
                <a:spcPct val="97000"/>
              </a:lnSpc>
              <a:spcBef>
                <a:spcPts val="210"/>
              </a:spcBef>
            </a:pPr>
            <a:r>
              <a:rPr sz="3600" b="1" spc="-50" dirty="0">
                <a:latin typeface="Times New Roman" panose="02020603050405020304"/>
                <a:cs typeface="Times New Roman" panose="02020603050405020304"/>
              </a:rPr>
              <a:t>Under</a:t>
            </a:r>
            <a:r>
              <a:rPr sz="3600" b="1" spc="-229" dirty="0">
                <a:latin typeface="Times New Roman" panose="02020603050405020304"/>
                <a:cs typeface="Times New Roman" panose="02020603050405020304"/>
              </a:rPr>
              <a:t> </a:t>
            </a:r>
            <a:r>
              <a:rPr lang="en-US" sz="3600" b="1" spc="-40" dirty="0">
                <a:latin typeface="Times New Roman" panose="02020603050405020304"/>
                <a:cs typeface="Times New Roman" panose="02020603050405020304"/>
              </a:rPr>
              <a:t>The</a:t>
            </a:r>
            <a:r>
              <a:rPr lang="en-US" sz="3600" b="1" spc="-235" dirty="0">
                <a:latin typeface="Times New Roman" panose="02020603050405020304"/>
                <a:cs typeface="Times New Roman" panose="02020603050405020304"/>
              </a:rPr>
              <a:t> </a:t>
            </a:r>
            <a:r>
              <a:rPr lang="en-US" sz="3600" b="1" spc="-10" dirty="0">
                <a:latin typeface="Times New Roman" panose="02020603050405020304"/>
                <a:cs typeface="Times New Roman" panose="02020603050405020304"/>
              </a:rPr>
              <a:t>Supervision</a:t>
            </a:r>
            <a:r>
              <a:rPr lang="en-US" sz="3600" b="1" spc="-45" dirty="0">
                <a:latin typeface="Times New Roman" panose="02020603050405020304"/>
                <a:cs typeface="Times New Roman" panose="02020603050405020304"/>
              </a:rPr>
              <a:t> </a:t>
            </a:r>
            <a:r>
              <a:rPr sz="3600" b="1" spc="-25" dirty="0">
                <a:latin typeface="Times New Roman" panose="02020603050405020304"/>
                <a:cs typeface="Times New Roman" panose="02020603050405020304"/>
              </a:rPr>
              <a:t>of </a:t>
            </a:r>
            <a:r>
              <a:rPr sz="3600" dirty="0">
                <a:latin typeface="Times New Roman" panose="02020603050405020304"/>
                <a:cs typeface="Times New Roman" panose="02020603050405020304"/>
              </a:rPr>
              <a:t>Dr.</a:t>
            </a:r>
            <a:r>
              <a:rPr sz="3600" spc="150" dirty="0">
                <a:latin typeface="Times New Roman" panose="02020603050405020304"/>
                <a:cs typeface="Times New Roman" panose="02020603050405020304"/>
              </a:rPr>
              <a:t> </a:t>
            </a:r>
            <a:r>
              <a:rPr sz="3600" dirty="0">
                <a:latin typeface="Times New Roman" panose="02020603050405020304"/>
                <a:cs typeface="Times New Roman" panose="02020603050405020304"/>
              </a:rPr>
              <a:t>K.</a:t>
            </a:r>
            <a:r>
              <a:rPr sz="3600" spc="140" dirty="0">
                <a:latin typeface="Times New Roman" panose="02020603050405020304"/>
                <a:cs typeface="Times New Roman" panose="02020603050405020304"/>
              </a:rPr>
              <a:t> </a:t>
            </a:r>
            <a:r>
              <a:rPr sz="3600" dirty="0">
                <a:latin typeface="Times New Roman" panose="02020603050405020304"/>
                <a:cs typeface="Times New Roman" panose="02020603050405020304"/>
              </a:rPr>
              <a:t>Kranthi</a:t>
            </a:r>
            <a:r>
              <a:rPr lang="en-US" sz="3600" spc="145" dirty="0">
                <a:latin typeface="Times New Roman" panose="02020603050405020304"/>
                <a:cs typeface="Times New Roman" panose="02020603050405020304"/>
              </a:rPr>
              <a:t> </a:t>
            </a:r>
            <a:r>
              <a:rPr lang="en-US" sz="3600" spc="-10" dirty="0">
                <a:latin typeface="Times New Roman" panose="02020603050405020304"/>
                <a:cs typeface="Times New Roman" panose="02020603050405020304"/>
              </a:rPr>
              <a:t>Kumar Professor</a:t>
            </a:r>
            <a:endParaRPr lang="en-US" dirty="0"/>
          </a:p>
        </p:txBody>
      </p:sp>
      <p:sp>
        <p:nvSpPr>
          <p:cNvPr id="7" name="object 7"/>
          <p:cNvSpPr txBox="1"/>
          <p:nvPr/>
        </p:nvSpPr>
        <p:spPr>
          <a:xfrm>
            <a:off x="4419600" y="8191500"/>
            <a:ext cx="9338310" cy="1888489"/>
          </a:xfrm>
          <a:prstGeom prst="rect">
            <a:avLst/>
          </a:prstGeom>
        </p:spPr>
        <p:txBody>
          <a:bodyPr vert="horz" wrap="square" lIns="0" tIns="25400" rIns="0" bIns="0" rtlCol="0">
            <a:spAutoFit/>
          </a:bodyPr>
          <a:lstStyle/>
          <a:p>
            <a:pPr marL="12700" marR="5080" indent="-2540" algn="ctr">
              <a:lnSpc>
                <a:spcPct val="97000"/>
              </a:lnSpc>
              <a:spcBef>
                <a:spcPts val="200"/>
              </a:spcBef>
            </a:pPr>
            <a:r>
              <a:rPr sz="3000" b="1" dirty="0">
                <a:latin typeface="Times New Roman" panose="02020603050405020304"/>
                <a:cs typeface="Times New Roman" panose="02020603050405020304"/>
              </a:rPr>
              <a:t>DEPARTMENT</a:t>
            </a:r>
            <a:r>
              <a:rPr sz="3000" b="1" spc="-35" dirty="0">
                <a:latin typeface="Times New Roman" panose="02020603050405020304"/>
                <a:cs typeface="Times New Roman" panose="02020603050405020304"/>
              </a:rPr>
              <a:t> </a:t>
            </a:r>
            <a:r>
              <a:rPr sz="3000" b="1" dirty="0">
                <a:latin typeface="Times New Roman" panose="02020603050405020304"/>
                <a:cs typeface="Times New Roman" panose="02020603050405020304"/>
              </a:rPr>
              <a:t>OF</a:t>
            </a:r>
            <a:r>
              <a:rPr sz="3000" b="1" spc="-20" dirty="0">
                <a:latin typeface="Times New Roman" panose="02020603050405020304"/>
                <a:cs typeface="Times New Roman" panose="02020603050405020304"/>
              </a:rPr>
              <a:t> </a:t>
            </a:r>
            <a:r>
              <a:rPr sz="3000" b="1" dirty="0">
                <a:latin typeface="Times New Roman" panose="02020603050405020304"/>
                <a:cs typeface="Times New Roman" panose="02020603050405020304"/>
              </a:rPr>
              <a:t>INFORMATION</a:t>
            </a:r>
            <a:r>
              <a:rPr sz="3000" b="1" spc="-15" dirty="0">
                <a:latin typeface="Times New Roman" panose="02020603050405020304"/>
                <a:cs typeface="Times New Roman" panose="02020603050405020304"/>
              </a:rPr>
              <a:t> </a:t>
            </a:r>
            <a:r>
              <a:rPr sz="3000" b="1" spc="-10" dirty="0">
                <a:latin typeface="Times New Roman" panose="02020603050405020304"/>
                <a:cs typeface="Times New Roman" panose="02020603050405020304"/>
              </a:rPr>
              <a:t>TECHNOLOGY </a:t>
            </a:r>
            <a:r>
              <a:rPr sz="3600" b="1" dirty="0">
                <a:latin typeface="Times New Roman" panose="02020603050405020304"/>
                <a:cs typeface="Times New Roman" panose="02020603050405020304"/>
              </a:rPr>
              <a:t>VASIREDDY VENKATADRI</a:t>
            </a:r>
            <a:r>
              <a:rPr sz="3600" b="1" spc="5" dirty="0">
                <a:latin typeface="Times New Roman" panose="02020603050405020304"/>
                <a:cs typeface="Times New Roman" panose="02020603050405020304"/>
              </a:rPr>
              <a:t> </a:t>
            </a:r>
            <a:r>
              <a:rPr sz="3600" b="1" dirty="0">
                <a:latin typeface="Times New Roman" panose="02020603050405020304"/>
                <a:cs typeface="Times New Roman" panose="02020603050405020304"/>
              </a:rPr>
              <a:t>INSTITUTE</a:t>
            </a:r>
            <a:r>
              <a:rPr sz="3600" b="1" spc="5" dirty="0">
                <a:latin typeface="Times New Roman" panose="02020603050405020304"/>
                <a:cs typeface="Times New Roman" panose="02020603050405020304"/>
              </a:rPr>
              <a:t> </a:t>
            </a:r>
            <a:r>
              <a:rPr sz="3600" b="1" spc="-25" dirty="0">
                <a:latin typeface="Times New Roman" panose="02020603050405020304"/>
                <a:cs typeface="Times New Roman" panose="02020603050405020304"/>
              </a:rPr>
              <a:t>OF </a:t>
            </a:r>
            <a:r>
              <a:rPr sz="3600" b="1" spc="-10" dirty="0">
                <a:latin typeface="Times New Roman" panose="02020603050405020304"/>
                <a:cs typeface="Times New Roman" panose="02020603050405020304"/>
              </a:rPr>
              <a:t>TECHNOLOGY</a:t>
            </a:r>
            <a:endParaRPr sz="3600" dirty="0">
              <a:latin typeface="Times New Roman" panose="02020603050405020304"/>
              <a:cs typeface="Times New Roman" panose="02020603050405020304"/>
            </a:endParaRPr>
          </a:p>
          <a:p>
            <a:pPr algn="ctr">
              <a:lnSpc>
                <a:spcPct val="100000"/>
              </a:lnSpc>
              <a:spcBef>
                <a:spcPts val="145"/>
              </a:spcBef>
            </a:pPr>
            <a:r>
              <a:rPr sz="2100" b="1" dirty="0">
                <a:latin typeface="Times New Roman" panose="02020603050405020304"/>
                <a:cs typeface="Times New Roman" panose="02020603050405020304"/>
              </a:rPr>
              <a:t>PADAKAKANI</a:t>
            </a:r>
            <a:r>
              <a:rPr sz="2100" b="1" spc="250" dirty="0">
                <a:latin typeface="Times New Roman" panose="02020603050405020304"/>
                <a:cs typeface="Times New Roman" panose="02020603050405020304"/>
              </a:rPr>
              <a:t> </a:t>
            </a:r>
            <a:r>
              <a:rPr sz="2100" b="1" dirty="0">
                <a:latin typeface="Times New Roman" panose="02020603050405020304"/>
                <a:cs typeface="Times New Roman" panose="02020603050405020304"/>
              </a:rPr>
              <a:t>MANDAL,</a:t>
            </a:r>
            <a:r>
              <a:rPr sz="2100" b="1" spc="260" dirty="0">
                <a:latin typeface="Times New Roman" panose="02020603050405020304"/>
                <a:cs typeface="Times New Roman" panose="02020603050405020304"/>
              </a:rPr>
              <a:t> </a:t>
            </a:r>
            <a:r>
              <a:rPr sz="2100" b="1" dirty="0">
                <a:latin typeface="Times New Roman" panose="02020603050405020304"/>
                <a:cs typeface="Times New Roman" panose="02020603050405020304"/>
              </a:rPr>
              <a:t>NAMBURU,</a:t>
            </a:r>
            <a:r>
              <a:rPr sz="2100" b="1" spc="254" dirty="0">
                <a:latin typeface="Times New Roman" panose="02020603050405020304"/>
                <a:cs typeface="Times New Roman" panose="02020603050405020304"/>
              </a:rPr>
              <a:t> </a:t>
            </a:r>
            <a:r>
              <a:rPr sz="2100" b="1" spc="-10" dirty="0">
                <a:latin typeface="Times New Roman" panose="02020603050405020304"/>
                <a:cs typeface="Times New Roman" panose="02020603050405020304"/>
              </a:rPr>
              <a:t>GUNTURU-522508</a:t>
            </a:r>
            <a:endParaRPr sz="2100" dirty="0">
              <a:latin typeface="Times New Roman" panose="02020603050405020304"/>
              <a:cs typeface="Times New Roman" panose="02020603050405020304"/>
            </a:endParaRPr>
          </a:p>
        </p:txBody>
      </p:sp>
      <p:sp>
        <p:nvSpPr>
          <p:cNvPr id="8" name="TextBox 7"/>
          <p:cNvSpPr txBox="1"/>
          <p:nvPr/>
        </p:nvSpPr>
        <p:spPr>
          <a:xfrm>
            <a:off x="10530611" y="5543268"/>
            <a:ext cx="723398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algn="ctr"/>
            <a:r>
              <a:rPr lang="en-US" sz="3200" b="1" dirty="0"/>
              <a:t>Presented By</a:t>
            </a:r>
            <a:endParaRPr lang="en-US" sz="3200" b="1" dirty="0">
              <a:solidFill>
                <a:srgbClr val="000000"/>
              </a:solidFill>
            </a:endParaRPr>
          </a:p>
          <a:p>
            <a:pPr algn="just"/>
            <a:r>
              <a:rPr lang="en-US" sz="2800" dirty="0">
                <a:solidFill>
                  <a:srgbClr val="000000"/>
                </a:solidFill>
              </a:rPr>
              <a:t>Yamani Kavya Sri   - 22BQ1A12H2</a:t>
            </a:r>
            <a:endParaRPr lang="en-US" sz="2800" dirty="0">
              <a:solidFill>
                <a:srgbClr val="000000"/>
              </a:solidFill>
            </a:endParaRPr>
          </a:p>
          <a:p>
            <a:pPr algn="just"/>
            <a:r>
              <a:rPr lang="en-US" sz="2800" dirty="0">
                <a:solidFill>
                  <a:srgbClr val="000000"/>
                </a:solidFill>
              </a:rPr>
              <a:t>Soma Indu        - 22BQ1A12F1</a:t>
            </a:r>
            <a:endParaRPr lang="en-US" sz="2800" dirty="0">
              <a:solidFill>
                <a:srgbClr val="000000"/>
              </a:solidFill>
            </a:endParaRPr>
          </a:p>
          <a:p>
            <a:pPr algn="just"/>
            <a:r>
              <a:rPr lang="en-US" sz="2800" dirty="0">
                <a:solidFill>
                  <a:srgbClr val="000000"/>
                </a:solidFill>
              </a:rPr>
              <a:t>Sankuri Sravani      - 22BQ1A12E1</a:t>
            </a:r>
            <a:endParaRPr lang="en-US" sz="2800" dirty="0">
              <a:solidFill>
                <a:srgbClr val="000000"/>
              </a:solidFill>
            </a:endParaRPr>
          </a:p>
          <a:p>
            <a:pPr algn="just"/>
            <a:r>
              <a:rPr lang="en-US" sz="2800" dirty="0">
                <a:solidFill>
                  <a:srgbClr val="000000"/>
                </a:solidFill>
              </a:rPr>
              <a:t>Tadiboyina Pranavi   - 22BQ1A12F5</a:t>
            </a:r>
            <a:endParaRPr lang="en-US" sz="2800"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133970" y="214325"/>
            <a:ext cx="4424680" cy="1260475"/>
          </a:xfrm>
          <a:prstGeom prst="rect">
            <a:avLst/>
          </a:prstGeom>
        </p:spPr>
        <p:txBody>
          <a:bodyPr vert="horz" wrap="square" lIns="0" tIns="12700" rIns="0" bIns="0" rtlCol="0">
            <a:spAutoFit/>
          </a:bodyPr>
          <a:lstStyle/>
          <a:p>
            <a:pPr marL="12700">
              <a:lnSpc>
                <a:spcPct val="100000"/>
              </a:lnSpc>
              <a:spcBef>
                <a:spcPts val="100"/>
              </a:spcBef>
            </a:pPr>
            <a:r>
              <a:rPr sz="8000" b="1" spc="-285" dirty="0">
                <a:latin typeface="Times New Roman" panose="02020603050405020304"/>
                <a:cs typeface="Times New Roman" panose="02020603050405020304"/>
              </a:rPr>
              <a:t>A</a:t>
            </a:r>
            <a:r>
              <a:rPr sz="8000" b="1" spc="130" dirty="0">
                <a:latin typeface="Times New Roman" panose="02020603050405020304"/>
                <a:cs typeface="Times New Roman" panose="02020603050405020304"/>
              </a:rPr>
              <a:t>GE</a:t>
            </a:r>
            <a:r>
              <a:rPr sz="8000" b="1" spc="140" dirty="0">
                <a:latin typeface="Times New Roman" panose="02020603050405020304"/>
                <a:cs typeface="Times New Roman" panose="02020603050405020304"/>
              </a:rPr>
              <a:t>N</a:t>
            </a:r>
            <a:r>
              <a:rPr sz="8000" b="1" spc="-500" dirty="0">
                <a:latin typeface="Times New Roman" panose="02020603050405020304"/>
                <a:cs typeface="Times New Roman" panose="02020603050405020304"/>
              </a:rPr>
              <a:t>D</a:t>
            </a:r>
            <a:r>
              <a:rPr sz="8000" b="1" spc="-25" dirty="0">
                <a:latin typeface="Times New Roman" panose="02020603050405020304"/>
                <a:cs typeface="Times New Roman" panose="02020603050405020304"/>
              </a:rPr>
              <a:t>A</a:t>
            </a:r>
            <a:endParaRPr sz="8000" dirty="0">
              <a:latin typeface="Times New Roman" panose="02020603050405020304"/>
              <a:cs typeface="Times New Roman" panose="02020603050405020304"/>
            </a:endParaRPr>
          </a:p>
        </p:txBody>
      </p:sp>
      <p:sp>
        <p:nvSpPr>
          <p:cNvPr id="3" name="object 3"/>
          <p:cNvSpPr txBox="1"/>
          <p:nvPr/>
        </p:nvSpPr>
        <p:spPr>
          <a:xfrm>
            <a:off x="1752600" y="1540128"/>
            <a:ext cx="6845046" cy="7877175"/>
          </a:xfrm>
          <a:prstGeom prst="rect">
            <a:avLst/>
          </a:prstGeom>
        </p:spPr>
        <p:txBody>
          <a:bodyPr vert="horz" wrap="square" lIns="0" tIns="183515" rIns="0" bIns="0" rtlCol="0">
            <a:spAutoFit/>
          </a:bodyPr>
          <a:lstStyle/>
          <a:p>
            <a:pPr marL="641350" indent="-628650">
              <a:lnSpc>
                <a:spcPct val="100000"/>
              </a:lnSpc>
              <a:spcBef>
                <a:spcPts val="1445"/>
              </a:spcBef>
              <a:buSzPct val="98000"/>
              <a:buAutoNum type="arabicPeriod"/>
              <a:tabLst>
                <a:tab pos="641350" algn="l"/>
              </a:tabLst>
            </a:pPr>
            <a:r>
              <a:rPr sz="6000" spc="225" dirty="0">
                <a:latin typeface="Times New Roman" panose="02020603050405020304"/>
                <a:cs typeface="Times New Roman" panose="02020603050405020304"/>
              </a:rPr>
              <a:t>Abstract</a:t>
            </a:r>
            <a:endParaRPr sz="6000" dirty="0">
              <a:latin typeface="Times New Roman" panose="02020603050405020304"/>
              <a:cs typeface="Times New Roman" panose="02020603050405020304"/>
            </a:endParaRPr>
          </a:p>
          <a:p>
            <a:pPr marL="581025" indent="-574675">
              <a:lnSpc>
                <a:spcPct val="100000"/>
              </a:lnSpc>
              <a:spcBef>
                <a:spcPts val="1350"/>
              </a:spcBef>
              <a:buSzPct val="98000"/>
              <a:buAutoNum type="arabicPeriod"/>
              <a:tabLst>
                <a:tab pos="581025" algn="l"/>
              </a:tabLst>
            </a:pPr>
            <a:r>
              <a:rPr sz="6000" spc="-10" dirty="0">
                <a:latin typeface="Times New Roman" panose="02020603050405020304"/>
                <a:cs typeface="Times New Roman" panose="02020603050405020304"/>
              </a:rPr>
              <a:t>Introduction</a:t>
            </a:r>
            <a:endParaRPr sz="6000" dirty="0">
              <a:latin typeface="Times New Roman" panose="02020603050405020304"/>
              <a:cs typeface="Times New Roman" panose="02020603050405020304"/>
            </a:endParaRPr>
          </a:p>
          <a:p>
            <a:pPr marL="632460" indent="-600075">
              <a:lnSpc>
                <a:spcPct val="100000"/>
              </a:lnSpc>
              <a:spcBef>
                <a:spcPts val="1835"/>
              </a:spcBef>
              <a:buSzPct val="98000"/>
              <a:buAutoNum type="arabicPeriod"/>
              <a:tabLst>
                <a:tab pos="632460" algn="l"/>
              </a:tabLst>
            </a:pPr>
            <a:r>
              <a:rPr sz="6000" spc="145" dirty="0">
                <a:latin typeface="Times New Roman" panose="02020603050405020304"/>
                <a:cs typeface="Times New Roman" panose="02020603050405020304"/>
              </a:rPr>
              <a:t>Problem</a:t>
            </a:r>
            <a:r>
              <a:rPr sz="6000" spc="-105" dirty="0">
                <a:latin typeface="Times New Roman" panose="02020603050405020304"/>
                <a:cs typeface="Times New Roman" panose="02020603050405020304"/>
              </a:rPr>
              <a:t> </a:t>
            </a:r>
            <a:r>
              <a:rPr sz="6000" spc="105" dirty="0">
                <a:latin typeface="Times New Roman" panose="02020603050405020304"/>
                <a:cs typeface="Times New Roman" panose="02020603050405020304"/>
              </a:rPr>
              <a:t>Statement</a:t>
            </a:r>
            <a:endParaRPr sz="6000" dirty="0">
              <a:latin typeface="Times New Roman" panose="02020603050405020304"/>
              <a:cs typeface="Times New Roman" panose="02020603050405020304"/>
            </a:endParaRPr>
          </a:p>
          <a:p>
            <a:pPr marL="32385" marR="530225" indent="600075">
              <a:lnSpc>
                <a:spcPts val="9040"/>
              </a:lnSpc>
              <a:spcBef>
                <a:spcPts val="160"/>
              </a:spcBef>
              <a:buSzPct val="98000"/>
              <a:buAutoNum type="arabicPeriod"/>
              <a:tabLst>
                <a:tab pos="632460" algn="l"/>
                <a:tab pos="4031615" algn="l"/>
              </a:tabLst>
            </a:pPr>
            <a:r>
              <a:rPr sz="6000" spc="120" dirty="0">
                <a:latin typeface="Times New Roman" panose="02020603050405020304"/>
                <a:cs typeface="Times New Roman" panose="02020603050405020304"/>
              </a:rPr>
              <a:t>Existing</a:t>
            </a:r>
            <a:r>
              <a:rPr sz="6000" spc="110" dirty="0">
                <a:latin typeface="Times New Roman" panose="02020603050405020304"/>
                <a:cs typeface="Times New Roman" panose="02020603050405020304"/>
              </a:rPr>
              <a:t> </a:t>
            </a:r>
            <a:r>
              <a:rPr sz="6000" spc="135" dirty="0">
                <a:latin typeface="Times New Roman" panose="02020603050405020304"/>
                <a:cs typeface="Times New Roman" panose="02020603050405020304"/>
              </a:rPr>
              <a:t>System </a:t>
            </a:r>
            <a:r>
              <a:rPr sz="6000" spc="-10" dirty="0">
                <a:latin typeface="Times New Roman" panose="02020603050405020304"/>
                <a:cs typeface="Times New Roman" panose="02020603050405020304"/>
              </a:rPr>
              <a:t>5.Literature</a:t>
            </a:r>
            <a:r>
              <a:rPr sz="6000" dirty="0">
                <a:latin typeface="Times New Roman" panose="02020603050405020304"/>
                <a:cs typeface="Times New Roman" panose="02020603050405020304"/>
              </a:rPr>
              <a:t>	</a:t>
            </a:r>
            <a:r>
              <a:rPr sz="6000" spc="-20" dirty="0">
                <a:latin typeface="Times New Roman" panose="02020603050405020304"/>
                <a:cs typeface="Times New Roman" panose="02020603050405020304"/>
              </a:rPr>
              <a:t>Survey</a:t>
            </a:r>
            <a:endParaRPr sz="6000" dirty="0">
              <a:latin typeface="Times New Roman" panose="02020603050405020304"/>
              <a:cs typeface="Times New Roman" panose="02020603050405020304"/>
            </a:endParaRPr>
          </a:p>
          <a:p>
            <a:pPr marL="688975" indent="-600075">
              <a:lnSpc>
                <a:spcPct val="100000"/>
              </a:lnSpc>
              <a:spcBef>
                <a:spcPts val="1230"/>
              </a:spcBef>
              <a:buSzPct val="98000"/>
              <a:buAutoNum type="arabicPeriod" startAt="6"/>
              <a:tabLst>
                <a:tab pos="688975" algn="l"/>
              </a:tabLst>
            </a:pPr>
            <a:r>
              <a:rPr sz="6000" spc="110" dirty="0">
                <a:latin typeface="Times New Roman" panose="02020603050405020304"/>
                <a:cs typeface="Times New Roman" panose="02020603050405020304"/>
              </a:rPr>
              <a:t>Proposed</a:t>
            </a:r>
            <a:r>
              <a:rPr sz="6000" spc="-155" dirty="0">
                <a:latin typeface="Times New Roman" panose="02020603050405020304"/>
                <a:cs typeface="Times New Roman" panose="02020603050405020304"/>
              </a:rPr>
              <a:t> </a:t>
            </a:r>
            <a:r>
              <a:rPr sz="6000" spc="135" dirty="0">
                <a:latin typeface="Times New Roman" panose="02020603050405020304"/>
                <a:cs typeface="Times New Roman" panose="02020603050405020304"/>
              </a:rPr>
              <a:t>System</a:t>
            </a:r>
            <a:endParaRPr sz="6000" dirty="0">
              <a:latin typeface="Times New Roman" panose="02020603050405020304"/>
              <a:cs typeface="Times New Roman" panose="02020603050405020304"/>
            </a:endParaRPr>
          </a:p>
          <a:p>
            <a:pPr marL="664845" indent="-597535">
              <a:lnSpc>
                <a:spcPct val="100000"/>
              </a:lnSpc>
              <a:spcBef>
                <a:spcPts val="1825"/>
              </a:spcBef>
              <a:buSzPct val="98000"/>
              <a:buAutoNum type="arabicPeriod" startAt="6"/>
              <a:tabLst>
                <a:tab pos="664845" algn="l"/>
              </a:tabLst>
            </a:pPr>
            <a:r>
              <a:rPr sz="6000" spc="114" dirty="0">
                <a:latin typeface="Times New Roman" panose="02020603050405020304"/>
                <a:cs typeface="Times New Roman" panose="02020603050405020304"/>
              </a:rPr>
              <a:t>Methodology</a:t>
            </a:r>
            <a:r>
              <a:rPr lang="en-IN" sz="6000" spc="114" dirty="0">
                <a:latin typeface="Times New Roman" panose="02020603050405020304"/>
                <a:cs typeface="Times New Roman" panose="02020603050405020304"/>
              </a:rPr>
              <a:t> </a:t>
            </a:r>
            <a:endParaRPr sz="6000" dirty="0">
              <a:latin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33782" y="495300"/>
            <a:ext cx="6024245" cy="1244571"/>
          </a:xfrm>
          <a:prstGeom prst="rect">
            <a:avLst/>
          </a:prstGeom>
        </p:spPr>
        <p:txBody>
          <a:bodyPr vert="horz" wrap="square" lIns="0" tIns="13335" rIns="0" bIns="0" rtlCol="0">
            <a:spAutoFit/>
          </a:bodyPr>
          <a:lstStyle/>
          <a:p>
            <a:pPr marL="12700" algn="ctr">
              <a:lnSpc>
                <a:spcPct val="100000"/>
              </a:lnSpc>
              <a:spcBef>
                <a:spcPts val="105"/>
              </a:spcBef>
            </a:pPr>
            <a:r>
              <a:rPr sz="8000" b="1" dirty="0">
                <a:latin typeface="+mj-lt"/>
              </a:rPr>
              <a:t>1.Abstract</a:t>
            </a:r>
            <a:endParaRPr sz="8000" b="1" dirty="0">
              <a:latin typeface="+mj-lt"/>
            </a:endParaRPr>
          </a:p>
        </p:txBody>
      </p:sp>
      <p:sp>
        <p:nvSpPr>
          <p:cNvPr id="3" name="object 3"/>
          <p:cNvSpPr txBox="1"/>
          <p:nvPr/>
        </p:nvSpPr>
        <p:spPr>
          <a:xfrm>
            <a:off x="649603" y="2324100"/>
            <a:ext cx="16992601" cy="6605206"/>
          </a:xfrm>
          <a:prstGeom prst="rect">
            <a:avLst/>
          </a:prstGeom>
        </p:spPr>
        <p:txBody>
          <a:bodyPr vert="horz" wrap="square" lIns="0" tIns="77470" rIns="0" bIns="0" rtlCol="0">
            <a:spAutoFit/>
          </a:bodyPr>
          <a:lstStyle/>
          <a:p>
            <a:pPr marL="12700" marR="5080" lvl="1" algn="just">
              <a:lnSpc>
                <a:spcPct val="88000"/>
              </a:lnSpc>
              <a:spcBef>
                <a:spcPts val="610"/>
              </a:spcBef>
            </a:pPr>
            <a:r>
              <a:rPr sz="3200" dirty="0">
                <a:latin typeface="Times New Roman" panose="02020603050405020304"/>
                <a:cs typeface="Times New Roman" panose="02020603050405020304"/>
              </a:rPr>
              <a:t>Secure and autonomous</a:t>
            </a:r>
            <a:r>
              <a:rPr lang="en-IN" sz="3200" dirty="0">
                <a:latin typeface="Times New Roman" panose="02020603050405020304"/>
                <a:cs typeface="Times New Roman" panose="02020603050405020304"/>
              </a:rPr>
              <a:t> </a:t>
            </a:r>
            <a:r>
              <a:rPr sz="3200" dirty="0">
                <a:latin typeface="Times New Roman" panose="02020603050405020304"/>
                <a:cs typeface="Times New Roman" panose="02020603050405020304"/>
              </a:rPr>
              <a:t>cyber–physical  systems (CPS) are  increasingly deployed in critical domains such as industrial automation, smart infrastructure, and intelligent transportation systems. However, the growing connectivity of CPS exposes them to sophisticated cyber-attacks, making reliable intrusion detection essential for ensuring system safety and resilience. This project presents a deep learning–based intrusion detection framework for CPS security using a hybrid CNN–LSTM architecture evaluated on the Edge-IIoT dataset. Convolutional Neural Network (CNN) layers are employed to extract spatial and protocol-level features from network traffic, while Long Short- Term Memory (LSTM) layers capture temporal dependencies and sequential attack behaviors. To enhance robustness against data imbalance and unseen attack patterns, a Generative Adversarial Network (GAN)–based data augmentation approach is incorporated to generate realistic synthetic attack samples. Additionally, explainable AI (XAI) techniques based on layer-wise activation analysis are used to improve interpretability and trust in model decisions. Experimental results demonstrate that the proposed CNN–LSTM framework, augmented with GAN-generated data, achieves improved detection performance compared to conventional deep learning approaches, making it suitable for security monitoring in autonomous CPS environments</a:t>
            </a:r>
            <a:r>
              <a:rPr sz="3400" spc="-10" dirty="0">
                <a:latin typeface="Times New Roman" panose="02020603050405020304"/>
                <a:cs typeface="Times New Roman" panose="02020603050405020304"/>
              </a:rPr>
              <a:t>.</a:t>
            </a:r>
            <a:endParaRPr sz="3400" dirty="0">
              <a:latin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190500"/>
            <a:ext cx="15440025" cy="2321070"/>
          </a:xfrm>
          <a:prstGeom prst="rect">
            <a:avLst/>
          </a:prstGeom>
        </p:spPr>
        <p:txBody>
          <a:bodyPr vert="horz" wrap="square" lIns="0" tIns="1079423" rIns="0" bIns="0" rtlCol="0">
            <a:spAutoFit/>
          </a:bodyPr>
          <a:lstStyle/>
          <a:p>
            <a:pPr marL="2644140" algn="ctr">
              <a:lnSpc>
                <a:spcPct val="100000"/>
              </a:lnSpc>
              <a:spcBef>
                <a:spcPts val="105"/>
              </a:spcBef>
            </a:pPr>
            <a:r>
              <a:rPr sz="8000" b="1" dirty="0">
                <a:latin typeface="+mn-lt"/>
              </a:rPr>
              <a:t>2.Introduction</a:t>
            </a:r>
            <a:endParaRPr sz="8000" b="1" dirty="0">
              <a:latin typeface="+mn-lt"/>
            </a:endParaRPr>
          </a:p>
        </p:txBody>
      </p:sp>
      <p:sp>
        <p:nvSpPr>
          <p:cNvPr id="3" name="object 3"/>
          <p:cNvSpPr txBox="1">
            <a:spLocks noGrp="1"/>
          </p:cNvSpPr>
          <p:nvPr>
            <p:ph type="body" idx="1"/>
          </p:nvPr>
        </p:nvSpPr>
        <p:spPr>
          <a:xfrm>
            <a:off x="600075" y="2109106"/>
            <a:ext cx="17076964" cy="7715850"/>
          </a:xfrm>
          <a:prstGeom prst="rect">
            <a:avLst/>
          </a:prstGeom>
        </p:spPr>
        <p:txBody>
          <a:bodyPr vert="horz" wrap="square" lIns="0" tIns="16510" rIns="0" bIns="0" rtlCol="0" anchor="t">
            <a:spAutoFit/>
          </a:bodyPr>
          <a:lstStyle/>
          <a:p>
            <a:pPr marL="12700" marR="5080" algn="just">
              <a:lnSpc>
                <a:spcPct val="99000"/>
              </a:lnSpc>
              <a:spcBef>
                <a:spcPts val="130"/>
              </a:spcBef>
            </a:pPr>
            <a:r>
              <a:rPr lang="en-US" sz="3600" dirty="0"/>
              <a:t>Autonomous Cyber-Physical Systems (CPS) are an integral part of modern digital infrastructure, as they seamlessly combine physical processes with computation, communication, and intelligent control mechanisms. These systems rely on sensors to collect data from the physical environment, controllers to process this data, and actuators to perform appropriate actions in real time. CPS are extensively used in critical sectors such as industrial automation, autonomous transportation, smart manufacturing, smart grids, and healthcare monitoring systems, where timely and accurate decision-making is essential. In many of these applications, even minor delays or errors can result in severe safety issues, system downtime, or financial losses. The rapid advancement of technologies such as the Internet of Things (IoT), edge computing, cloud platforms, and high-speed communication networks has further increased the autonomy and intelligence of CPS, enabling them to operate in highly dynamic and distributed environments. However, this increased reliance on interconnected components also introduces greater system complexity, making CPS more difficult to manage and secure.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2"/>
          <p:cNvSpPr>
            <a:spLocks noGrp="1"/>
          </p:cNvSpPr>
          <p:nvPr>
            <p:ph type="body" idx="1"/>
          </p:nvPr>
        </p:nvSpPr>
        <p:spPr>
          <a:xfrm>
            <a:off x="676275" y="1113064"/>
            <a:ext cx="16930008" cy="8863965"/>
          </a:xfrm>
        </p:spPr>
        <p:txBody>
          <a:bodyPr wrap="square" lIns="0" tIns="0" rIns="0" bIns="0" anchor="t">
            <a:spAutoFit/>
          </a:bodyPr>
          <a:lstStyle/>
          <a:p>
            <a:pPr algn="just"/>
            <a:r>
              <a:rPr lang="en-US" sz="3600"/>
              <a:t>While the interconnected nature of CPS improves efficiency and functionality, it also significantly expands the attack surface, exposing these systems to a wide range of cyber threats. Modern cyberattacks are no longer limited to software-based intrusions but can directly influence physical processes by manipulating sensor readings, control commands, or communication protocols. Such attacks may cause incorrect system behavior, unsafe operating conditions, or even catastrophic physical damage. Securing CPS is particularly challenging because these systems continuously generate massive volumes of heterogeneous data from sensors, networks, and control units, all of which must be analyzed in real time. Traditional security approaches that depend on static rules, predefined attack signatures, or threshold-based anomaly detection are insufficient to handle the evolving and sophisticated nature of modern cyberattacks. Many attacks are designed to closely mimic normal system behavior, making them difficult to distinguish from legitimate operations. As a result, classical detection techniques often suffer from high false alarm rates, delayed detection, and limited adaptability, highlighting the need for more intelligent and data-driven security solutions.</a:t>
            </a:r>
            <a:endParaRPr lang="en-US"/>
          </a:p>
          <a:p>
            <a:pPr algn="just"/>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0218" y="759279"/>
            <a:ext cx="11484991" cy="1244571"/>
          </a:xfrm>
          <a:prstGeom prst="rect">
            <a:avLst/>
          </a:prstGeom>
        </p:spPr>
        <p:txBody>
          <a:bodyPr vert="horz" wrap="square" lIns="0" tIns="13335" rIns="0" bIns="0" rtlCol="0">
            <a:spAutoFit/>
          </a:bodyPr>
          <a:lstStyle/>
          <a:p>
            <a:pPr marL="12700">
              <a:lnSpc>
                <a:spcPct val="100000"/>
              </a:lnSpc>
              <a:spcBef>
                <a:spcPts val="105"/>
              </a:spcBef>
            </a:pPr>
            <a:r>
              <a:rPr sz="8000" b="1" dirty="0">
                <a:latin typeface="+mj-lt"/>
              </a:rPr>
              <a:t>3.Problem Statement</a:t>
            </a:r>
            <a:endParaRPr sz="8000" b="1" dirty="0">
              <a:latin typeface="+mj-lt"/>
            </a:endParaRPr>
          </a:p>
        </p:txBody>
      </p:sp>
      <p:sp>
        <p:nvSpPr>
          <p:cNvPr id="3" name="object 3"/>
          <p:cNvSpPr txBox="1"/>
          <p:nvPr/>
        </p:nvSpPr>
        <p:spPr>
          <a:xfrm>
            <a:off x="653415" y="1999615"/>
            <a:ext cx="16833215" cy="7597140"/>
          </a:xfrm>
          <a:prstGeom prst="rect">
            <a:avLst/>
          </a:prstGeom>
        </p:spPr>
        <p:txBody>
          <a:bodyPr vert="horz" wrap="square" lIns="0" tIns="12065" rIns="0" bIns="0" rtlCol="0" anchor="t">
            <a:spAutoFit/>
          </a:bodyPr>
          <a:lstStyle/>
          <a:p>
            <a:pPr marL="12700" marR="5080" algn="just">
              <a:lnSpc>
                <a:spcPct val="110000"/>
              </a:lnSpc>
              <a:spcBef>
                <a:spcPts val="95"/>
              </a:spcBef>
            </a:pPr>
            <a:r>
              <a:rPr lang="en-US" sz="3450" spc="-10" dirty="0">
                <a:latin typeface="Times New Roman" panose="02020603050405020304" pitchFamily="18" charset="0"/>
                <a:cs typeface="Times New Roman" panose="02020603050405020304" pitchFamily="18" charset="0"/>
              </a:rPr>
              <a:t>Autonomous Cyber-Physical Systems (CPS) are increasingly vulnerable to sophisticated cyberattacks due to their reliance on real-time communication, distributed control, and interconnected network infrastructures. Cyber intrusions in such systems can directly affect physical processes, leading to safety risks, operational disruptions, and significant economic losses. Traditional intrusion detection methods based on static rules or signature matching are inadequate for identifying complex, evolving, and stealthy attacks that often mimic normal system behavior. In addition, CPS network traffic is highly heterogeneous, high-dimensional, and class-imbalanced, which limits the effectiveness of conventional and existing deep learning-based detection approaches that struggle to capture both spatial protocol features and temporal attack patterns. The limited availability of diverse attack data further reduces the ability of detection models to generalize to unseen and zero-day threats, highlighting the need for an adaptive and accurate intrusion detection framework for securing autonomous CPS environments.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59902" y="1070336"/>
            <a:ext cx="9677400" cy="1243289"/>
          </a:xfrm>
          <a:prstGeom prst="rect">
            <a:avLst/>
          </a:prstGeom>
        </p:spPr>
        <p:txBody>
          <a:bodyPr vert="horz" wrap="square" lIns="0" tIns="12065" rIns="0" bIns="0" rtlCol="0">
            <a:spAutoFit/>
          </a:bodyPr>
          <a:lstStyle/>
          <a:p>
            <a:pPr marL="12700" algn="ctr">
              <a:lnSpc>
                <a:spcPct val="100000"/>
              </a:lnSpc>
              <a:spcBef>
                <a:spcPts val="95"/>
              </a:spcBef>
            </a:pPr>
            <a:r>
              <a:rPr sz="8000" b="1" dirty="0">
                <a:latin typeface="+mj-lt"/>
              </a:rPr>
              <a:t>4.Existing System</a:t>
            </a:r>
            <a:endParaRPr sz="8000" b="1" dirty="0">
              <a:latin typeface="+mj-lt"/>
            </a:endParaRPr>
          </a:p>
        </p:txBody>
      </p:sp>
      <p:sp>
        <p:nvSpPr>
          <p:cNvPr id="3" name="object 3"/>
          <p:cNvSpPr txBox="1"/>
          <p:nvPr/>
        </p:nvSpPr>
        <p:spPr>
          <a:xfrm>
            <a:off x="1034737" y="2838280"/>
            <a:ext cx="16197580" cy="6279515"/>
          </a:xfrm>
          <a:prstGeom prst="rect">
            <a:avLst/>
          </a:prstGeom>
        </p:spPr>
        <p:txBody>
          <a:bodyPr vert="horz" wrap="square" lIns="0" tIns="123825" rIns="0" bIns="0" rtlCol="0" anchor="t">
            <a:spAutoFit/>
          </a:bodyPr>
          <a:lstStyle/>
          <a:p>
            <a:pPr marL="342900" indent="-342900" algn="just">
              <a:buChar char="•"/>
            </a:pPr>
            <a:r>
              <a:rPr lang="en-US" sz="4000" b="0" spc="-150" dirty="0">
                <a:latin typeface="Times New Roman" panose="02020603050405020304" pitchFamily="18" charset="0"/>
                <a:cs typeface="Times New Roman" panose="02020603050405020304" pitchFamily="18" charset="0"/>
              </a:rPr>
              <a:t>Unable to effectively capture both communication patterns and time-dependent attack behavior in CPS environments.</a:t>
            </a:r>
            <a:endParaRPr lang="en-US" sz="4000" b="0" spc="-150" dirty="0">
              <a:latin typeface="Times New Roman" panose="02020603050405020304" pitchFamily="18" charset="0"/>
              <a:cs typeface="Times New Roman" panose="02020603050405020304" pitchFamily="18" charset="0"/>
            </a:endParaRPr>
          </a:p>
          <a:p>
            <a:pPr marL="342900" indent="-342900" algn="just">
              <a:buChar char="•"/>
            </a:pPr>
            <a:r>
              <a:rPr lang="en-US" sz="4000" b="0" spc="-150" dirty="0">
                <a:latin typeface="Times New Roman" panose="02020603050405020304" pitchFamily="18" charset="0"/>
                <a:cs typeface="Times New Roman" panose="02020603050405020304" pitchFamily="18" charset="0"/>
              </a:rPr>
              <a:t>Limited capability to handle imbalanced network traffic, leading to poor detection of rare but critical cyberattacks.</a:t>
            </a:r>
            <a:endParaRPr lang="en-US" sz="4000" b="0" spc="-150" dirty="0">
              <a:latin typeface="Times New Roman" panose="02020603050405020304" pitchFamily="18" charset="0"/>
              <a:cs typeface="Times New Roman" panose="02020603050405020304" pitchFamily="18" charset="0"/>
            </a:endParaRPr>
          </a:p>
          <a:p>
            <a:pPr marL="342900" indent="-342900" algn="just">
              <a:buChar char="•"/>
            </a:pPr>
            <a:r>
              <a:rPr lang="en-US" sz="4000" b="0" spc="-150" dirty="0">
                <a:latin typeface="Times New Roman" panose="02020603050405020304" pitchFamily="18" charset="0"/>
                <a:cs typeface="Times New Roman" panose="02020603050405020304" pitchFamily="18" charset="0"/>
              </a:rPr>
              <a:t>Weak performance against unseen or evolving attacks, as most systems rely heavily on known patterns.</a:t>
            </a:r>
            <a:endParaRPr lang="en-US" sz="4000" b="0" spc="-150" dirty="0">
              <a:latin typeface="Times New Roman" panose="02020603050405020304" pitchFamily="18" charset="0"/>
              <a:cs typeface="Times New Roman" panose="02020603050405020304" pitchFamily="18" charset="0"/>
            </a:endParaRPr>
          </a:p>
          <a:p>
            <a:pPr marL="342900" indent="-342900" algn="just">
              <a:buChar char="•"/>
            </a:pPr>
            <a:r>
              <a:rPr lang="en-US" sz="4000" b="0" spc="-150" dirty="0">
                <a:latin typeface="Times New Roman" panose="02020603050405020304" pitchFamily="18" charset="0"/>
                <a:cs typeface="Times New Roman" panose="02020603050405020304" pitchFamily="18" charset="0"/>
              </a:rPr>
              <a:t>High computational complexity and detection latency, making them unsuitable for real-time autonomous CPS operation.</a:t>
            </a:r>
            <a:endParaRPr lang="en-US" sz="4000" b="0" spc="-150" dirty="0">
              <a:latin typeface="Times New Roman" panose="02020603050405020304" pitchFamily="18" charset="0"/>
              <a:cs typeface="Times New Roman" panose="02020603050405020304" pitchFamily="18" charset="0"/>
            </a:endParaRPr>
          </a:p>
          <a:p>
            <a:pPr marL="342900" indent="-342900" algn="l">
              <a:buChar char="•"/>
            </a:pPr>
            <a:r>
              <a:rPr lang="en-US" sz="4000" b="0" spc="-150" dirty="0">
                <a:latin typeface="Times New Roman" panose="02020603050405020304" pitchFamily="18" charset="0"/>
                <a:cs typeface="Times New Roman" panose="02020603050405020304" pitchFamily="18" charset="0"/>
              </a:rPr>
              <a:t>Lack of model transparency, making it difficult to understand and trust detection decisions in security-critical systems.</a:t>
            </a:r>
            <a:endParaRPr lang="en-US" sz="4000" b="0" spc="-15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67200" y="209550"/>
            <a:ext cx="10875010" cy="1121461"/>
          </a:xfrm>
          <a:prstGeom prst="rect">
            <a:avLst/>
          </a:prstGeom>
        </p:spPr>
        <p:txBody>
          <a:bodyPr vert="horz" wrap="square" lIns="0" tIns="13335" rIns="0" bIns="0" rtlCol="0">
            <a:spAutoFit/>
          </a:bodyPr>
          <a:lstStyle/>
          <a:p>
            <a:pPr marL="12700" algn="ctr">
              <a:lnSpc>
                <a:spcPct val="100000"/>
              </a:lnSpc>
              <a:spcBef>
                <a:spcPts val="105"/>
              </a:spcBef>
            </a:pPr>
            <a:r>
              <a:rPr sz="7200" b="1" dirty="0">
                <a:latin typeface="+mj-lt"/>
                <a:cs typeface="Times New Roman" panose="02020603050405020304" pitchFamily="18" charset="0"/>
              </a:rPr>
              <a:t>5.Literature</a:t>
            </a:r>
            <a:r>
              <a:rPr sz="7200" b="1" dirty="0">
                <a:latin typeface="+mj-lt"/>
              </a:rPr>
              <a:t> Survey</a:t>
            </a:r>
            <a:endParaRPr sz="7200" b="1" dirty="0">
              <a:latin typeface="+mj-lt"/>
            </a:endParaRPr>
          </a:p>
        </p:txBody>
      </p:sp>
      <p:graphicFrame>
        <p:nvGraphicFramePr>
          <p:cNvPr id="6" name="Table 5"/>
          <p:cNvGraphicFramePr>
            <a:graphicFrameLocks noGrp="1"/>
          </p:cNvGraphicFramePr>
          <p:nvPr/>
        </p:nvGraphicFramePr>
        <p:xfrm>
          <a:off x="762000" y="1638300"/>
          <a:ext cx="16992600" cy="8445500"/>
        </p:xfrm>
        <a:graphic>
          <a:graphicData uri="http://schemas.openxmlformats.org/drawingml/2006/table">
            <a:tbl>
              <a:tblPr firstRow="1" bandRow="1">
                <a:tableStyleId>{073A0DAA-6AF3-43AB-8588-CEC1D06C72B9}</a:tableStyleId>
              </a:tblPr>
              <a:tblGrid>
                <a:gridCol w="533400"/>
                <a:gridCol w="2057400"/>
                <a:gridCol w="1905000"/>
                <a:gridCol w="2133600"/>
                <a:gridCol w="2514600"/>
                <a:gridCol w="2057400"/>
                <a:gridCol w="2590800"/>
                <a:gridCol w="3200400"/>
              </a:tblGrid>
              <a:tr h="1206500">
                <a:tc>
                  <a:txBody>
                    <a:bodyPr/>
                    <a:lstStyle/>
                    <a:p>
                      <a:r>
                        <a:rPr lang="en-IN" dirty="0"/>
                        <a:t>No.</a:t>
                      </a:r>
                      <a:endParaRPr lang="en-IN" dirty="0"/>
                    </a:p>
                  </a:txBody>
                  <a:tcPr anchor="ctr"/>
                </a:tc>
                <a:tc>
                  <a:txBody>
                    <a:bodyPr/>
                    <a:lstStyle/>
                    <a:p>
                      <a:r>
                        <a:rPr lang="en-IN"/>
                        <a:t>Author &amp; Year</a:t>
                      </a:r>
                      <a:endParaRPr lang="en-IN"/>
                    </a:p>
                  </a:txBody>
                  <a:tcPr anchor="ctr"/>
                </a:tc>
                <a:tc>
                  <a:txBody>
                    <a:bodyPr/>
                    <a:lstStyle/>
                    <a:p>
                      <a:r>
                        <a:rPr lang="en-IN"/>
                        <a:t>Method</a:t>
                      </a:r>
                      <a:endParaRPr lang="en-IN"/>
                    </a:p>
                  </a:txBody>
                  <a:tcPr anchor="ctr"/>
                </a:tc>
                <a:tc>
                  <a:txBody>
                    <a:bodyPr/>
                    <a:lstStyle/>
                    <a:p>
                      <a:r>
                        <a:rPr lang="en-IN"/>
                        <a:t>Dataset</a:t>
                      </a:r>
                      <a:endParaRPr lang="en-IN"/>
                    </a:p>
                  </a:txBody>
                  <a:tcPr anchor="ctr"/>
                </a:tc>
                <a:tc>
                  <a:txBody>
                    <a:bodyPr/>
                    <a:lstStyle/>
                    <a:p>
                      <a:r>
                        <a:rPr lang="en-IN"/>
                        <a:t>Advantage</a:t>
                      </a:r>
                      <a:endParaRPr lang="en-IN"/>
                    </a:p>
                  </a:txBody>
                  <a:tcPr anchor="ctr"/>
                </a:tc>
                <a:tc>
                  <a:txBody>
                    <a:bodyPr/>
                    <a:lstStyle/>
                    <a:p>
                      <a:r>
                        <a:rPr lang="en-IN"/>
                        <a:t>Disadvantage</a:t>
                      </a:r>
                      <a:endParaRPr lang="en-IN"/>
                    </a:p>
                  </a:txBody>
                  <a:tcPr anchor="ctr"/>
                </a:tc>
                <a:tc>
                  <a:txBody>
                    <a:bodyPr/>
                    <a:lstStyle/>
                    <a:p>
                      <a:r>
                        <a:rPr lang="en-IN" dirty="0"/>
                        <a:t>Research Gap</a:t>
                      </a:r>
                      <a:endParaRPr lang="en-IN" dirty="0"/>
                    </a:p>
                  </a:txBody>
                  <a:tcPr anchor="ctr"/>
                </a:tc>
                <a:tc>
                  <a:txBody>
                    <a:bodyPr/>
                    <a:lstStyle/>
                    <a:p>
                      <a:r>
                        <a:rPr lang="en-IN" b="1"/>
                        <a:t>Reference (Link)</a:t>
                      </a:r>
                      <a:endParaRPr lang="en-IN"/>
                    </a:p>
                  </a:txBody>
                  <a:tcPr anchor="ctr"/>
                </a:tc>
              </a:tr>
              <a:tr h="1206500">
                <a:tc>
                  <a:txBody>
                    <a:bodyPr/>
                    <a:lstStyle/>
                    <a:p>
                      <a:r>
                        <a:rPr lang="en-IN"/>
                        <a:t>1</a:t>
                      </a:r>
                      <a:endParaRPr lang="en-IN"/>
                    </a:p>
                  </a:txBody>
                  <a:tcPr anchor="ctr"/>
                </a:tc>
                <a:tc>
                  <a:txBody>
                    <a:bodyPr/>
                    <a:lstStyle/>
                    <a:p>
                      <a:r>
                        <a:rPr lang="en-IN"/>
                        <a:t>Anita (2024)</a:t>
                      </a:r>
                      <a:endParaRPr lang="en-IN"/>
                    </a:p>
                  </a:txBody>
                  <a:tcPr anchor="ctr"/>
                </a:tc>
                <a:tc>
                  <a:txBody>
                    <a:bodyPr/>
                    <a:lstStyle/>
                    <a:p>
                      <a:r>
                        <a:rPr lang="en-IN"/>
                        <a:t>GAN</a:t>
                      </a:r>
                      <a:endParaRPr lang="en-IN"/>
                    </a:p>
                  </a:txBody>
                  <a:tcPr anchor="ctr"/>
                </a:tc>
                <a:tc>
                  <a:txBody>
                    <a:bodyPr/>
                    <a:lstStyle/>
                    <a:p>
                      <a:r>
                        <a:rPr lang="en-IN"/>
                        <a:t>Public space dataset</a:t>
                      </a:r>
                      <a:endParaRPr lang="en-IN"/>
                    </a:p>
                  </a:txBody>
                  <a:tcPr anchor="ctr"/>
                </a:tc>
                <a:tc>
                  <a:txBody>
                    <a:bodyPr/>
                    <a:lstStyle/>
                    <a:p>
                      <a:r>
                        <a:rPr lang="en-IN"/>
                        <a:t>Detection of zero-day attacks</a:t>
                      </a:r>
                      <a:endParaRPr lang="en-IN"/>
                    </a:p>
                  </a:txBody>
                  <a:tcPr anchor="ctr"/>
                </a:tc>
                <a:tc>
                  <a:txBody>
                    <a:bodyPr/>
                    <a:lstStyle/>
                    <a:p>
                      <a:r>
                        <a:rPr lang="en-IN"/>
                        <a:t>High cost &amp; system complexity</a:t>
                      </a:r>
                      <a:endParaRPr lang="en-IN"/>
                    </a:p>
                  </a:txBody>
                  <a:tcPr anchor="ctr"/>
                </a:tc>
                <a:tc>
                  <a:txBody>
                    <a:bodyPr/>
                    <a:lstStyle/>
                    <a:p>
                      <a:r>
                        <a:rPr lang="en-IN"/>
                        <a:t>Realistic AI-generated attack data</a:t>
                      </a:r>
                      <a:endParaRPr lang="en-IN"/>
                    </a:p>
                  </a:txBody>
                  <a:tcPr anchor="ctr"/>
                </a:tc>
                <a:tc>
                  <a:txBody>
                    <a:bodyPr/>
                    <a:lstStyle/>
                    <a:p>
                      <a:r>
                        <a:rPr lang="en-IN"/>
                        <a:t>https://doi.org/10.1016/j.cose.2021.102305</a:t>
                      </a:r>
                      <a:endParaRPr lang="en-IN"/>
                    </a:p>
                  </a:txBody>
                  <a:tcPr anchor="ctr"/>
                </a:tc>
              </a:tr>
              <a:tr h="1206500">
                <a:tc>
                  <a:txBody>
                    <a:bodyPr/>
                    <a:lstStyle/>
                    <a:p>
                      <a:r>
                        <a:rPr lang="en-IN"/>
                        <a:t>2</a:t>
                      </a:r>
                      <a:endParaRPr lang="en-IN"/>
                    </a:p>
                  </a:txBody>
                  <a:tcPr anchor="ctr"/>
                </a:tc>
                <a:tc>
                  <a:txBody>
                    <a:bodyPr/>
                    <a:lstStyle/>
                    <a:p>
                      <a:r>
                        <a:rPr lang="en-IN"/>
                        <a:t>Unitil et al. (2024)</a:t>
                      </a:r>
                      <a:endParaRPr lang="en-IN"/>
                    </a:p>
                  </a:txBody>
                  <a:tcPr anchor="ctr"/>
                </a:tc>
                <a:tc>
                  <a:txBody>
                    <a:bodyPr/>
                    <a:lstStyle/>
                    <a:p>
                      <a:r>
                        <a:rPr lang="en-IN"/>
                        <a:t>AI-based Anomaly Detection</a:t>
                      </a:r>
                      <a:endParaRPr lang="en-IN"/>
                    </a:p>
                  </a:txBody>
                  <a:tcPr anchor="ctr"/>
                </a:tc>
                <a:tc>
                  <a:txBody>
                    <a:bodyPr/>
                    <a:lstStyle/>
                    <a:p>
                      <a:r>
                        <a:rPr lang="en-IN" dirty="0"/>
                        <a:t>MW Data</a:t>
                      </a:r>
                      <a:endParaRPr lang="en-IN" dirty="0"/>
                    </a:p>
                  </a:txBody>
                  <a:tcPr anchor="ctr"/>
                </a:tc>
                <a:tc>
                  <a:txBody>
                    <a:bodyPr/>
                    <a:lstStyle/>
                    <a:p>
                      <a:r>
                        <a:rPr lang="en-IN"/>
                        <a:t>Improved efficiency &amp; optimization</a:t>
                      </a:r>
                      <a:endParaRPr lang="en-IN"/>
                    </a:p>
                  </a:txBody>
                  <a:tcPr anchor="ctr"/>
                </a:tc>
                <a:tc>
                  <a:txBody>
                    <a:bodyPr/>
                    <a:lstStyle/>
                    <a:p>
                      <a:r>
                        <a:rPr lang="en-IN"/>
                        <a:t>High implementation complexity</a:t>
                      </a:r>
                      <a:endParaRPr lang="en-IN"/>
                    </a:p>
                  </a:txBody>
                  <a:tcPr anchor="ctr"/>
                </a:tc>
                <a:tc>
                  <a:txBody>
                    <a:bodyPr/>
                    <a:lstStyle/>
                    <a:p>
                      <a:r>
                        <a:rPr lang="en-IN"/>
                        <a:t>Real-time robust CPS protection</a:t>
                      </a:r>
                      <a:endParaRPr lang="en-IN"/>
                    </a:p>
                  </a:txBody>
                  <a:tcPr anchor="ctr"/>
                </a:tc>
                <a:tc>
                  <a:txBody>
                    <a:bodyPr/>
                    <a:lstStyle/>
                    <a:p>
                      <a:r>
                        <a:rPr lang="en-IN"/>
                        <a:t>https://doi.org/10.1109/TII.2020.2977438</a:t>
                      </a:r>
                      <a:endParaRPr lang="en-IN"/>
                    </a:p>
                  </a:txBody>
                  <a:tcPr anchor="ctr"/>
                </a:tc>
              </a:tr>
              <a:tr h="1206500">
                <a:tc>
                  <a:txBody>
                    <a:bodyPr/>
                    <a:lstStyle/>
                    <a:p>
                      <a:r>
                        <a:rPr lang="en-IN"/>
                        <a:t>3</a:t>
                      </a:r>
                      <a:endParaRPr lang="en-IN"/>
                    </a:p>
                  </a:txBody>
                  <a:tcPr anchor="ctr"/>
                </a:tc>
                <a:tc>
                  <a:txBody>
                    <a:bodyPr/>
                    <a:lstStyle/>
                    <a:p>
                      <a:r>
                        <a:rPr lang="da-DK"/>
                        <a:t>MIM Saeed et al. (2023)</a:t>
                      </a:r>
                      <a:endParaRPr lang="da-DK"/>
                    </a:p>
                  </a:txBody>
                  <a:tcPr anchor="ctr"/>
                </a:tc>
                <a:tc>
                  <a:txBody>
                    <a:bodyPr/>
                    <a:lstStyle/>
                    <a:p>
                      <a:r>
                        <a:rPr lang="en-IN"/>
                        <a:t>FS-Tech</a:t>
                      </a:r>
                      <a:endParaRPr lang="en-IN"/>
                    </a:p>
                  </a:txBody>
                  <a:tcPr anchor="ctr"/>
                </a:tc>
                <a:tc>
                  <a:txBody>
                    <a:bodyPr/>
                    <a:lstStyle/>
                    <a:p>
                      <a:r>
                        <a:rPr lang="en-IN"/>
                        <a:t>NSL-KDD &amp; KDD-CUP 1999</a:t>
                      </a:r>
                      <a:endParaRPr lang="en-IN"/>
                    </a:p>
                  </a:txBody>
                  <a:tcPr anchor="ctr"/>
                </a:tc>
                <a:tc>
                  <a:txBody>
                    <a:bodyPr/>
                    <a:lstStyle/>
                    <a:p>
                      <a:r>
                        <a:rPr lang="en-IN"/>
                        <a:t>Improved detection accuracy</a:t>
                      </a:r>
                      <a:endParaRPr lang="en-IN"/>
                    </a:p>
                  </a:txBody>
                  <a:tcPr anchor="ctr"/>
                </a:tc>
                <a:tc>
                  <a:txBody>
                    <a:bodyPr/>
                    <a:lstStyle/>
                    <a:p>
                      <a:r>
                        <a:rPr lang="en-IN"/>
                        <a:t>Time-consuming</a:t>
                      </a:r>
                      <a:endParaRPr lang="en-IN"/>
                    </a:p>
                  </a:txBody>
                  <a:tcPr anchor="ctr"/>
                </a:tc>
                <a:tc>
                  <a:txBody>
                    <a:bodyPr/>
                    <a:lstStyle/>
                    <a:p>
                      <a:r>
                        <a:rPr lang="en-US"/>
                        <a:t>Efficient anomaly detection for CPS</a:t>
                      </a:r>
                      <a:endParaRPr lang="en-US"/>
                    </a:p>
                  </a:txBody>
                  <a:tcPr anchor="ctr"/>
                </a:tc>
                <a:tc>
                  <a:txBody>
                    <a:bodyPr/>
                    <a:lstStyle/>
                    <a:p>
                      <a:r>
                        <a:rPr lang="en-IN"/>
                        <a:t>https://doi.org/10.1016/j.future.2022.01.018</a:t>
                      </a:r>
                      <a:endParaRPr lang="en-IN"/>
                    </a:p>
                  </a:txBody>
                  <a:tcPr anchor="ctr"/>
                </a:tc>
              </a:tr>
              <a:tr h="1206500">
                <a:tc>
                  <a:txBody>
                    <a:bodyPr/>
                    <a:lstStyle/>
                    <a:p>
                      <a:r>
                        <a:rPr lang="en-IN"/>
                        <a:t>4</a:t>
                      </a:r>
                      <a:endParaRPr lang="en-IN"/>
                    </a:p>
                  </a:txBody>
                  <a:tcPr anchor="ctr"/>
                </a:tc>
                <a:tc>
                  <a:txBody>
                    <a:bodyPr/>
                    <a:lstStyle/>
                    <a:p>
                      <a:r>
                        <a:rPr lang="en-IN"/>
                        <a:t>Akinola et al. (2024)</a:t>
                      </a:r>
                      <a:endParaRPr lang="en-IN"/>
                    </a:p>
                  </a:txBody>
                  <a:tcPr anchor="ctr"/>
                </a:tc>
                <a:tc>
                  <a:txBody>
                    <a:bodyPr/>
                    <a:lstStyle/>
                    <a:p>
                      <a:r>
                        <a:rPr lang="en-IN"/>
                        <a:t>AI / ML</a:t>
                      </a:r>
                      <a:endParaRPr lang="en-IN"/>
                    </a:p>
                  </a:txBody>
                  <a:tcPr anchor="ctr"/>
                </a:tc>
                <a:tc>
                  <a:txBody>
                    <a:bodyPr/>
                    <a:lstStyle/>
                    <a:p>
                      <a:r>
                        <a:rPr lang="en-IN"/>
                        <a:t>Healthcare CPS data</a:t>
                      </a:r>
                      <a:endParaRPr lang="en-IN"/>
                    </a:p>
                  </a:txBody>
                  <a:tcPr anchor="ctr"/>
                </a:tc>
                <a:tc>
                  <a:txBody>
                    <a:bodyPr/>
                    <a:lstStyle/>
                    <a:p>
                      <a:r>
                        <a:rPr lang="en-IN"/>
                        <a:t>Efficiency improvement</a:t>
                      </a:r>
                      <a:endParaRPr lang="en-IN"/>
                    </a:p>
                  </a:txBody>
                  <a:tcPr anchor="ctr"/>
                </a:tc>
                <a:tc>
                  <a:txBody>
                    <a:bodyPr/>
                    <a:lstStyle/>
                    <a:p>
                      <a:r>
                        <a:rPr lang="en-IN"/>
                        <a:t>Increasing security risks</a:t>
                      </a:r>
                      <a:endParaRPr lang="en-IN"/>
                    </a:p>
                  </a:txBody>
                  <a:tcPr anchor="ctr"/>
                </a:tc>
                <a:tc>
                  <a:txBody>
                    <a:bodyPr/>
                    <a:lstStyle/>
                    <a:p>
                      <a:r>
                        <a:rPr lang="en-IN"/>
                        <a:t>Vulnerability-aware CPS models</a:t>
                      </a:r>
                      <a:endParaRPr lang="en-IN"/>
                    </a:p>
                  </a:txBody>
                  <a:tcPr anchor="ctr"/>
                </a:tc>
                <a:tc>
                  <a:txBody>
                    <a:bodyPr/>
                    <a:lstStyle/>
                    <a:p>
                      <a:r>
                        <a:rPr lang="en-IN"/>
                        <a:t>https://doi.org/10.1016/j.adhoc.2023.103450</a:t>
                      </a:r>
                      <a:endParaRPr lang="en-IN"/>
                    </a:p>
                  </a:txBody>
                  <a:tcPr anchor="ctr"/>
                </a:tc>
              </a:tr>
              <a:tr h="1206500">
                <a:tc>
                  <a:txBody>
                    <a:bodyPr/>
                    <a:lstStyle/>
                    <a:p>
                      <a:r>
                        <a:rPr lang="en-IN"/>
                        <a:t>5</a:t>
                      </a:r>
                      <a:endParaRPr lang="en-IN"/>
                    </a:p>
                  </a:txBody>
                  <a:tcPr anchor="ctr"/>
                </a:tc>
                <a:tc>
                  <a:txBody>
                    <a:bodyPr/>
                    <a:lstStyle/>
                    <a:p>
                      <a:r>
                        <a:rPr lang="en-IN"/>
                        <a:t>Chen et al. (2021)</a:t>
                      </a:r>
                      <a:endParaRPr lang="en-IN"/>
                    </a:p>
                  </a:txBody>
                  <a:tcPr anchor="ctr"/>
                </a:tc>
                <a:tc>
                  <a:txBody>
                    <a:bodyPr/>
                    <a:lstStyle/>
                    <a:p>
                      <a:r>
                        <a:rPr lang="en-IN"/>
                        <a:t>GAN</a:t>
                      </a:r>
                      <a:endParaRPr lang="en-IN"/>
                    </a:p>
                  </a:txBody>
                  <a:tcPr anchor="ctr"/>
                </a:tc>
                <a:tc>
                  <a:txBody>
                    <a:bodyPr/>
                    <a:lstStyle/>
                    <a:p>
                      <a:r>
                        <a:rPr lang="en-IN"/>
                        <a:t>ICS Dataset</a:t>
                      </a:r>
                      <a:endParaRPr lang="en-IN"/>
                    </a:p>
                  </a:txBody>
                  <a:tcPr anchor="ctr"/>
                </a:tc>
                <a:tc>
                  <a:txBody>
                    <a:bodyPr/>
                    <a:lstStyle/>
                    <a:p>
                      <a:r>
                        <a:rPr lang="en-IN"/>
                        <a:t>Strong attack recognition</a:t>
                      </a:r>
                      <a:endParaRPr lang="en-IN"/>
                    </a:p>
                  </a:txBody>
                  <a:tcPr anchor="ctr"/>
                </a:tc>
                <a:tc>
                  <a:txBody>
                    <a:bodyPr/>
                    <a:lstStyle/>
                    <a:p>
                      <a:r>
                        <a:rPr lang="en-IN"/>
                        <a:t>High computational cost</a:t>
                      </a:r>
                      <a:endParaRPr lang="en-IN"/>
                    </a:p>
                  </a:txBody>
                  <a:tcPr anchor="ctr"/>
                </a:tc>
                <a:tc>
                  <a:txBody>
                    <a:bodyPr/>
                    <a:lstStyle/>
                    <a:p>
                      <a:r>
                        <a:rPr lang="en-IN"/>
                        <a:t>Multi-attack generalization</a:t>
                      </a:r>
                      <a:endParaRPr lang="en-IN"/>
                    </a:p>
                  </a:txBody>
                  <a:tcPr anchor="ctr"/>
                </a:tc>
                <a:tc>
                  <a:txBody>
                    <a:bodyPr/>
                    <a:lstStyle/>
                    <a:p>
                      <a:r>
                        <a:rPr lang="en-IN"/>
                        <a:t>https://doi.org/10.1109/TII.2020.3036044</a:t>
                      </a:r>
                      <a:endParaRPr lang="en-IN"/>
                    </a:p>
                  </a:txBody>
                  <a:tcPr anchor="ctr"/>
                </a:tc>
              </a:tr>
              <a:tr h="1206500">
                <a:tc>
                  <a:txBody>
                    <a:bodyPr/>
                    <a:lstStyle/>
                    <a:p>
                      <a:r>
                        <a:rPr lang="en-IN"/>
                        <a:t>6</a:t>
                      </a:r>
                      <a:endParaRPr lang="en-IN"/>
                    </a:p>
                  </a:txBody>
                  <a:tcPr anchor="ctr"/>
                </a:tc>
                <a:tc>
                  <a:txBody>
                    <a:bodyPr/>
                    <a:lstStyle/>
                    <a:p>
                      <a:r>
                        <a:rPr lang="en-IN"/>
                        <a:t>Alsoadk (2022)</a:t>
                      </a:r>
                      <a:endParaRPr lang="en-IN"/>
                    </a:p>
                  </a:txBody>
                  <a:tcPr anchor="ctr"/>
                </a:tc>
                <a:tc>
                  <a:txBody>
                    <a:bodyPr/>
                    <a:lstStyle/>
                    <a:p>
                      <a:r>
                        <a:rPr lang="en-IN"/>
                        <a:t>MCC-SubSVDD</a:t>
                      </a:r>
                      <a:endParaRPr lang="en-IN"/>
                    </a:p>
                  </a:txBody>
                  <a:tcPr anchor="ctr"/>
                </a:tc>
                <a:tc>
                  <a:txBody>
                    <a:bodyPr/>
                    <a:lstStyle/>
                    <a:p>
                      <a:r>
                        <a:rPr lang="en-IN"/>
                        <a:t>CPS Dataset</a:t>
                      </a:r>
                      <a:endParaRPr lang="en-IN"/>
                    </a:p>
                  </a:txBody>
                  <a:tcPr anchor="ctr"/>
                </a:tc>
                <a:tc>
                  <a:txBody>
                    <a:bodyPr/>
                    <a:lstStyle/>
                    <a:p>
                      <a:r>
                        <a:rPr lang="en-IN"/>
                        <a:t>High accuracy &amp; reliability</a:t>
                      </a:r>
                      <a:endParaRPr lang="en-IN"/>
                    </a:p>
                  </a:txBody>
                  <a:tcPr anchor="ctr"/>
                </a:tc>
                <a:tc>
                  <a:txBody>
                    <a:bodyPr/>
                    <a:lstStyle/>
                    <a:p>
                      <a:r>
                        <a:rPr lang="en-IN"/>
                        <a:t>Real-time maintenance difficulty</a:t>
                      </a:r>
                      <a:endParaRPr lang="en-IN"/>
                    </a:p>
                  </a:txBody>
                  <a:tcPr anchor="ctr"/>
                </a:tc>
                <a:tc>
                  <a:txBody>
                    <a:bodyPr/>
                    <a:lstStyle/>
                    <a:p>
                      <a:r>
                        <a:rPr lang="en-US"/>
                        <a:t>Lightweight AI models for CPS</a:t>
                      </a:r>
                      <a:endParaRPr lang="en-US"/>
                    </a:p>
                  </a:txBody>
                  <a:tcPr anchor="ctr"/>
                </a:tc>
                <a:tc>
                  <a:txBody>
                    <a:bodyPr/>
                    <a:lstStyle/>
                    <a:p>
                      <a:r>
                        <a:rPr lang="en-IN" dirty="0"/>
                        <a:t>https://doi.org/10.1016/j.ins.2022.03.042</a:t>
                      </a:r>
                      <a:endParaRPr lang="en-IN" dirty="0"/>
                    </a:p>
                  </a:txBody>
                  <a:tcPr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32353" y="274361"/>
            <a:ext cx="8483850" cy="1244571"/>
          </a:xfrm>
          <a:prstGeom prst="rect">
            <a:avLst/>
          </a:prstGeom>
        </p:spPr>
        <p:txBody>
          <a:bodyPr vert="horz" wrap="square" lIns="0" tIns="13335" rIns="0" bIns="0" rtlCol="0">
            <a:spAutoFit/>
          </a:bodyPr>
          <a:lstStyle/>
          <a:p>
            <a:pPr marL="12700">
              <a:lnSpc>
                <a:spcPct val="100000"/>
              </a:lnSpc>
              <a:spcBef>
                <a:spcPts val="105"/>
              </a:spcBef>
            </a:pPr>
            <a:r>
              <a:rPr sz="8000" b="1" dirty="0">
                <a:latin typeface="+mj-lt"/>
              </a:rPr>
              <a:t>6. Proposed System</a:t>
            </a:r>
            <a:endParaRPr sz="8000" b="1" dirty="0">
              <a:latin typeface="+mj-lt"/>
            </a:endParaRPr>
          </a:p>
        </p:txBody>
      </p:sp>
      <p:sp>
        <p:nvSpPr>
          <p:cNvPr id="3" name="object 3"/>
          <p:cNvSpPr txBox="1"/>
          <p:nvPr/>
        </p:nvSpPr>
        <p:spPr>
          <a:xfrm>
            <a:off x="688089" y="1243597"/>
            <a:ext cx="16914996" cy="8583295"/>
          </a:xfrm>
          <a:prstGeom prst="rect">
            <a:avLst/>
          </a:prstGeom>
        </p:spPr>
        <p:txBody>
          <a:bodyPr vert="horz" wrap="square" lIns="0" tIns="329565" rIns="0" bIns="0" rtlCol="0" anchor="t">
            <a:spAutoFit/>
          </a:bodyPr>
          <a:lstStyle/>
          <a:p>
            <a:pPr marL="584200" algn="l">
              <a:spcBef>
                <a:spcPts val="2595"/>
              </a:spcBef>
            </a:pPr>
            <a:r>
              <a:rPr lang="en-US" sz="5400" b="1" spc="-370" dirty="0">
                <a:latin typeface="Times New Roman" panose="02020603050405020304" pitchFamily="18" charset="0"/>
                <a:ea typeface="Calibri" panose="020F0502020204030204"/>
                <a:cs typeface="Times New Roman" panose="02020603050405020304" pitchFamily="18" charset="0"/>
              </a:rPr>
              <a:t>Proposed</a:t>
            </a:r>
            <a:r>
              <a:rPr lang="en-US" sz="5400" b="1" spc="30" dirty="0">
                <a:latin typeface="Times New Roman" panose="02020603050405020304" pitchFamily="18" charset="0"/>
                <a:ea typeface="Calibri" panose="020F0502020204030204"/>
                <a:cs typeface="Times New Roman" panose="02020603050405020304" pitchFamily="18" charset="0"/>
              </a:rPr>
              <a:t> </a:t>
            </a:r>
            <a:r>
              <a:rPr lang="en-US" sz="5400" b="1" spc="-365" dirty="0">
                <a:latin typeface="Times New Roman" panose="02020603050405020304" pitchFamily="18" charset="0"/>
                <a:ea typeface="Calibri" panose="020F0502020204030204"/>
                <a:cs typeface="Times New Roman" panose="02020603050405020304" pitchFamily="18" charset="0"/>
              </a:rPr>
              <a:t>Methodology</a:t>
            </a:r>
            <a:r>
              <a:rPr lang="en-US" sz="5400" b="1" spc="25" dirty="0">
                <a:latin typeface="Times New Roman" panose="02020603050405020304" pitchFamily="18" charset="0"/>
                <a:ea typeface="Calibri" panose="020F0502020204030204"/>
                <a:cs typeface="Times New Roman" panose="02020603050405020304" pitchFamily="18" charset="0"/>
              </a:rPr>
              <a:t> </a:t>
            </a:r>
            <a:r>
              <a:rPr lang="en-US" sz="5400" b="1" spc="-385" dirty="0">
                <a:latin typeface="Times New Roman" panose="02020603050405020304" pitchFamily="18" charset="0"/>
                <a:ea typeface="Calibri" panose="020F0502020204030204"/>
                <a:cs typeface="Times New Roman" panose="02020603050405020304" pitchFamily="18" charset="0"/>
              </a:rPr>
              <a:t>Overview</a:t>
            </a:r>
            <a:endParaRPr lang="en-US" sz="5400" b="1">
              <a:latin typeface="Times New Roman" panose="02020603050405020304" pitchFamily="18" charset="0"/>
              <a:ea typeface="Calibri" panose="020F0502020204030204"/>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Autonomous Cyber-Physical Systems (CPS) operate by continuously sensing physical processes, exchanging data over communication networks, and executing control actions in real time. These systems generate large volumes of heterogeneous, high-dimensional sensor and network traffic data that must be continuously monitored to ensure secure and reliable operation. Due to the tight coupling between cyber and physical components, any successful cyber intrusion can propagate rapidly and cause physical damage, safety hazards, or system downtime. To address these challenges, the proposed methodology introduces a comprehensive deep learning–based intrusion detection framework specifically designed for autonomous CPS environments. The framework follows a structured pipeline that includes realistic CPS data acquisition, preprocessing and normalization, data balancing through augmentation, spatial–temporal feature learning, real-time intrusion detection, and result interpretation, ensuring accurate, robust, and timely identification of cyber threats.</a:t>
            </a:r>
            <a:endParaRPr lang="en-US" dirty="0">
              <a:latin typeface="Times New Roman" panose="02020603050405020304" pitchFamily="18" charset="0"/>
              <a:cs typeface="Times New Roman" panose="02020603050405020304" pitchFamily="18" charset="0"/>
            </a:endParaRPr>
          </a:p>
          <a:p>
            <a:pPr marL="12700" marR="5080" algn="just">
              <a:lnSpc>
                <a:spcPct val="110000"/>
              </a:lnSpc>
              <a:spcBef>
                <a:spcPts val="1290"/>
              </a:spcBef>
            </a:pP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2402" y="440336"/>
            <a:ext cx="17449799" cy="1027845"/>
          </a:xfrm>
          <a:prstGeom prst="rect">
            <a:avLst/>
          </a:prstGeom>
        </p:spPr>
        <p:txBody>
          <a:bodyPr vert="horz" wrap="square" lIns="0" tIns="12065" rIns="0" bIns="0" rtlCol="0">
            <a:spAutoFit/>
          </a:bodyPr>
          <a:lstStyle/>
          <a:p>
            <a:pPr marL="12700" algn="ctr">
              <a:lnSpc>
                <a:spcPct val="100000"/>
              </a:lnSpc>
              <a:spcBef>
                <a:spcPts val="95"/>
              </a:spcBef>
            </a:pPr>
            <a:r>
              <a:rPr sz="6600" b="1" dirty="0">
                <a:latin typeface="+mj-lt"/>
              </a:rPr>
              <a:t>Hybrid CNN–LSTM Intrusion Detection Module</a:t>
            </a:r>
            <a:endParaRPr sz="6600" b="1" dirty="0">
              <a:latin typeface="+mj-lt"/>
            </a:endParaRPr>
          </a:p>
        </p:txBody>
      </p:sp>
      <p:sp>
        <p:nvSpPr>
          <p:cNvPr id="3" name="object 3"/>
          <p:cNvSpPr txBox="1"/>
          <p:nvPr/>
        </p:nvSpPr>
        <p:spPr>
          <a:xfrm>
            <a:off x="707404" y="1795208"/>
            <a:ext cx="16879798" cy="7506335"/>
          </a:xfrm>
          <a:prstGeom prst="rect">
            <a:avLst/>
          </a:prstGeom>
        </p:spPr>
        <p:txBody>
          <a:bodyPr vert="horz" wrap="square" lIns="0" tIns="12065" rIns="0" bIns="0" rtlCol="0" anchor="t">
            <a:spAutoFit/>
          </a:bodyPr>
          <a:lstStyle/>
          <a:p>
            <a:pPr marL="12700" marR="5080" algn="just">
              <a:lnSpc>
                <a:spcPct val="116000"/>
              </a:lnSpc>
              <a:spcBef>
                <a:spcPts val="95"/>
              </a:spcBef>
            </a:pPr>
            <a:r>
              <a:rPr lang="en-US" sz="3500" spc="-10" dirty="0">
                <a:latin typeface="Times New Roman" panose="02020603050405020304" pitchFamily="18" charset="0"/>
                <a:cs typeface="Times New Roman" panose="02020603050405020304" pitchFamily="18" charset="0"/>
              </a:rPr>
              <a:t>The hybrid CNN–LSTM detection module forms the analytical core of the proposed system and is designed to jointly model spatial and temporal characteristics of CPS network traffic. The Convolutional Neural Network (CNN) component automatically extracts spatial features such as protocol-level patterns, packet structures, flow characteristics, and communication signatures from the Edge-</a:t>
            </a:r>
            <a:r>
              <a:rPr lang="en-US" sz="3500" spc="-10" dirty="0" err="1">
                <a:latin typeface="Times New Roman" panose="02020603050405020304" pitchFamily="18" charset="0"/>
                <a:cs typeface="Times New Roman" panose="02020603050405020304" pitchFamily="18" charset="0"/>
              </a:rPr>
              <a:t>IIoT</a:t>
            </a:r>
            <a:r>
              <a:rPr lang="en-US" sz="3500" spc="-10" dirty="0">
                <a:latin typeface="Times New Roman" panose="02020603050405020304" pitchFamily="18" charset="0"/>
                <a:cs typeface="Times New Roman" panose="02020603050405020304" pitchFamily="18" charset="0"/>
              </a:rPr>
              <a:t> dataset, enabling the detection of anomalies associated with malicious payloads and abnormal protocol usage. In parallel, the Long Short-Term Memory (LSTM) component processes sequential traffic data to learn temporal dependencies and long-term behavioral patterns, which are essential for identifying slow-rate attacks, coordinated intrusions, and multi-stage cyberattacks that evolve over time. By integrating CNN and LSTM layers into a unified architecture, the model captures complementary spatial–temporal representations, significantly improving detection accuracy, stability, and generalization in dynamic and real-world CPS environments.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70138" y="1356606"/>
            <a:ext cx="14111605" cy="1027845"/>
          </a:xfrm>
          <a:prstGeom prst="rect">
            <a:avLst/>
          </a:prstGeom>
        </p:spPr>
        <p:txBody>
          <a:bodyPr vert="horz" wrap="square" lIns="0" tIns="12065" rIns="0" bIns="0" rtlCol="0">
            <a:spAutoFit/>
          </a:bodyPr>
          <a:lstStyle/>
          <a:p>
            <a:pPr marL="12700" algn="ctr">
              <a:lnSpc>
                <a:spcPct val="100000"/>
              </a:lnSpc>
              <a:spcBef>
                <a:spcPts val="95"/>
              </a:spcBef>
            </a:pPr>
            <a:r>
              <a:rPr sz="6600" b="1" dirty="0">
                <a:latin typeface="+mj-lt"/>
              </a:rPr>
              <a:t>GAN-Based Data Augmentation Module</a:t>
            </a:r>
            <a:endParaRPr sz="6600" b="1" dirty="0">
              <a:latin typeface="+mj-lt"/>
            </a:endParaRPr>
          </a:p>
        </p:txBody>
      </p:sp>
      <p:sp>
        <p:nvSpPr>
          <p:cNvPr id="3" name="object 3"/>
          <p:cNvSpPr txBox="1"/>
          <p:nvPr/>
        </p:nvSpPr>
        <p:spPr>
          <a:xfrm>
            <a:off x="800735" y="2889250"/>
            <a:ext cx="16633825" cy="5506720"/>
          </a:xfrm>
          <a:prstGeom prst="rect">
            <a:avLst/>
          </a:prstGeom>
        </p:spPr>
        <p:txBody>
          <a:bodyPr vert="horz" wrap="square" lIns="0" tIns="35560" rIns="0" bIns="0" rtlCol="0" anchor="t">
            <a:noAutofit/>
          </a:bodyPr>
          <a:lstStyle/>
          <a:p>
            <a:pPr marL="12700" marR="5080" algn="just">
              <a:lnSpc>
                <a:spcPct val="96000"/>
              </a:lnSpc>
              <a:spcBef>
                <a:spcPts val="280"/>
              </a:spcBef>
            </a:pPr>
            <a:r>
              <a:rPr lang="en-US" sz="3500" spc="-10" dirty="0">
                <a:latin typeface="Times New Roman" panose="02020603050405020304" pitchFamily="18" charset="0"/>
                <a:cs typeface="Times New Roman" panose="02020603050405020304" pitchFamily="18" charset="0"/>
              </a:rPr>
              <a:t>To address the inherent class imbalance present in CPS intrusion datasets, where normal traffic dominates and certain attack types appear infrequently, the proposed methodology incorporates a Generative Adversarial Network (GAN) for data augmentation. The GAN consists of a generator that learns to produce realistic synthetic attack samples and a discriminator that distinguishes between real and generated data, enabling the generation of high-quality attack traffic through adversarial training. These synthetic samples are combined with original training data to enrich minority attack classes and increase dataset diversity. As a result, the intrusion detection model gains improved exposure to rare, unseen, and zero-day attack patterns, leading to reduced overfitting, enhanced robustness, and more balanced detection performance across different attack categories in autonomous CPS environments.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45762" y="1027966"/>
            <a:ext cx="16692697" cy="8309967"/>
          </a:xfrm>
        </p:spPr>
        <p:txBody>
          <a:bodyPr wrap="square" lIns="0" tIns="0" rIns="0" bIns="0" anchor="t">
            <a:spAutoFit/>
          </a:bodyPr>
          <a:lstStyle/>
          <a:p>
            <a:r>
              <a:rPr lang="en-US" sz="6000" b="1" dirty="0"/>
              <a:t>Detection, Evaluation, and Explainability</a:t>
            </a:r>
            <a:endParaRPr lang="en-US" sz="6000" b="1" dirty="0"/>
          </a:p>
          <a:p>
            <a:endParaRPr lang="en-US" sz="4000" dirty="0"/>
          </a:p>
          <a:p>
            <a:pPr algn="just"/>
            <a:r>
              <a:rPr lang="en-US" sz="4000" dirty="0"/>
              <a:t>Once trained, the CNN–LSTM model is deployed to perform real-time intrusion detection by classifying incoming CPS traffic as normal or malicious with minimal latency. The system’s effectiveness is evaluated using standard performance metrics such as accuracy, precision, recall, F1-score, and confusion matrix analysis to ensure reliable detection across all attack classes. In addition to performance evaluation, explainable artificial intelligence (XAI) techniques are incorporated to interpret model decisions by identifying influential features and temporal patterns that contribute to attack classification. This explainability enhances transparency, improves user trust, and supports informed decision-making, which is essential for deploying intrusion detection systems in safety-critical and security-sensitive CPS applications.</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1253" y="841323"/>
            <a:ext cx="14467840" cy="935513"/>
          </a:xfrm>
          <a:prstGeom prst="rect">
            <a:avLst/>
          </a:prstGeom>
        </p:spPr>
        <p:txBody>
          <a:bodyPr vert="horz" wrap="square" lIns="0" tIns="12065" rIns="0" bIns="0" rtlCol="0">
            <a:spAutoFit/>
          </a:bodyPr>
          <a:lstStyle/>
          <a:p>
            <a:pPr marL="12700">
              <a:lnSpc>
                <a:spcPct val="100000"/>
              </a:lnSpc>
              <a:spcBef>
                <a:spcPts val="95"/>
              </a:spcBef>
            </a:pPr>
            <a:r>
              <a:rPr sz="6000" b="1" dirty="0">
                <a:latin typeface="+mj-lt"/>
              </a:rPr>
              <a:t>Key Advantages and Research Gap Addressed</a:t>
            </a:r>
            <a:endParaRPr sz="6000" b="1" dirty="0">
              <a:latin typeface="+mj-lt"/>
            </a:endParaRPr>
          </a:p>
        </p:txBody>
      </p:sp>
      <p:sp>
        <p:nvSpPr>
          <p:cNvPr id="3" name="object 3"/>
          <p:cNvSpPr txBox="1"/>
          <p:nvPr/>
        </p:nvSpPr>
        <p:spPr>
          <a:xfrm>
            <a:off x="837991" y="2154657"/>
            <a:ext cx="16598360" cy="7590155"/>
          </a:xfrm>
          <a:prstGeom prst="rect">
            <a:avLst/>
          </a:prstGeom>
        </p:spPr>
        <p:txBody>
          <a:bodyPr vert="horz" wrap="square" lIns="0" tIns="35560" rIns="0" bIns="0" rtlCol="0" anchor="t">
            <a:spAutoFit/>
          </a:bodyPr>
          <a:lstStyle/>
          <a:p>
            <a:pPr algn="just"/>
            <a:r>
              <a:rPr lang="en-US" sz="3500" spc="-10" dirty="0">
                <a:latin typeface="Times New Roman" panose="02020603050405020304" pitchFamily="18" charset="0"/>
                <a:cs typeface="Times New Roman" panose="02020603050405020304" pitchFamily="18" charset="0"/>
              </a:rPr>
              <a:t>The proposed system provides a comprehensive and effective solution for securing autonomous Cyber-Physical Systems by integrating deep learning, data augmentation, and explainable intelligence within a unified framework. The hybrid CNN–LSTM architecture enables robust spatial–temporal learning by simultaneously capturing protocol-level traffic characteristics and time-dependent attack behaviors, leading to improved detection accuracy for complex and evolving intrusions. GAN-based data augmentation addresses the critical challenge of dataset imbalance by generating realistic synthetic attack samples, thereby enhancing model exposure to rare, unseen, and zero-day threats. Furthermore, the incorporation of explainable AI enhances transparency by providing meaningful insights into model decisions, increasing trust and usability in safety-critical applications. By addressing key research gaps such as limited sequential attack detection, insufficient dataset diversity, and poor adaptability to evolving cyber threats, the proposed system advances the state of CPS security beyond existing solutions.</a:t>
            </a:r>
            <a:endParaRPr lang="en-US" dirty="0">
              <a:latin typeface="Times New Roman" panose="02020603050405020304" pitchFamily="18" charset="0"/>
              <a:cs typeface="Times New Roman" panose="02020603050405020304" pitchFamily="18" charset="0"/>
            </a:endParaRPr>
          </a:p>
          <a:p>
            <a:pPr marL="12700" marR="5080" algn="just">
              <a:lnSpc>
                <a:spcPct val="96000"/>
              </a:lnSpc>
              <a:spcBef>
                <a:spcPts val="280"/>
              </a:spcBef>
            </a:pPr>
            <a:endParaRPr lang="en-US" sz="3500" spc="-1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419100"/>
            <a:ext cx="15440025" cy="1719035"/>
          </a:xfrm>
          <a:prstGeom prst="rect">
            <a:avLst/>
          </a:prstGeom>
        </p:spPr>
        <p:txBody>
          <a:bodyPr vert="horz" wrap="square" lIns="0" tIns="788010" rIns="0" bIns="0" rtlCol="0">
            <a:spAutoFit/>
          </a:bodyPr>
          <a:lstStyle/>
          <a:p>
            <a:pPr marL="4286250">
              <a:lnSpc>
                <a:spcPct val="100000"/>
              </a:lnSpc>
              <a:spcBef>
                <a:spcPts val="100"/>
              </a:spcBef>
            </a:pPr>
            <a:r>
              <a:rPr sz="6000" b="1" dirty="0">
                <a:latin typeface="Times New Roman" panose="02020603050405020304"/>
                <a:cs typeface="Times New Roman" panose="02020603050405020304"/>
              </a:rPr>
              <a:t>System</a:t>
            </a:r>
            <a:r>
              <a:rPr sz="6000" b="1" spc="-335" dirty="0">
                <a:latin typeface="Times New Roman" panose="02020603050405020304"/>
                <a:cs typeface="Times New Roman" panose="02020603050405020304"/>
              </a:rPr>
              <a:t> </a:t>
            </a:r>
            <a:r>
              <a:rPr sz="6000" b="1" spc="-40" dirty="0">
                <a:latin typeface="Times New Roman" panose="02020603050405020304"/>
                <a:cs typeface="Times New Roman" panose="02020603050405020304"/>
              </a:rPr>
              <a:t>Architecture</a:t>
            </a:r>
            <a:endParaRPr sz="6000" dirty="0">
              <a:latin typeface="Times New Roman" panose="02020603050405020304"/>
              <a:cs typeface="Times New Roman" panose="02020603050405020304"/>
            </a:endParaRPr>
          </a:p>
        </p:txBody>
      </p:sp>
      <p:pic>
        <p:nvPicPr>
          <p:cNvPr id="10"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86330" y="2413635"/>
            <a:ext cx="12801600" cy="56457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16280" y="495935"/>
            <a:ext cx="16483965" cy="929005"/>
          </a:xfrm>
        </p:spPr>
        <p:txBody>
          <a:bodyPr>
            <a:noAutofit/>
          </a:bodyPr>
          <a:p>
            <a:pPr algn="ctr"/>
            <a:r>
              <a:rPr lang="en-US" sz="6000"/>
              <a:t>Software Requirements</a:t>
            </a:r>
            <a:endParaRPr lang="en-US" sz="6000"/>
          </a:p>
        </p:txBody>
      </p:sp>
      <p:sp>
        <p:nvSpPr>
          <p:cNvPr id="3" name="Text Box 2"/>
          <p:cNvSpPr txBox="1"/>
          <p:nvPr/>
        </p:nvSpPr>
        <p:spPr>
          <a:xfrm>
            <a:off x="1333500" y="2197735"/>
            <a:ext cx="15650210" cy="6336665"/>
          </a:xfrm>
          <a:prstGeom prst="rect">
            <a:avLst/>
          </a:prstGeom>
          <a:noFill/>
        </p:spPr>
        <p:txBody>
          <a:bodyPr wrap="square" rtlCol="0">
            <a:noAutofit/>
          </a:bodyPr>
          <a:p>
            <a:pPr marL="285750" indent="-285750">
              <a:buFont typeface="Wingdings" panose="05000000000000000000" charset="0"/>
              <a:buChar char="Ø"/>
            </a:pPr>
            <a:r>
              <a:rPr lang="en-US" altLang="en-US" sz="3500">
                <a:latin typeface="Times New Roman" panose="02020603050405020304" pitchFamily="18" charset="0"/>
                <a:cs typeface="Times New Roman" panose="02020603050405020304" pitchFamily="18" charset="0"/>
              </a:rPr>
              <a:t>Python Libraries: TensorFlow / PyTorch, Keras, NumPy, Pandas, Scikit-learn, Matplotlib, Seaborn, Gradient-based Explainable AI (XAI), Layer-wise Activation Analysis</a:t>
            </a:r>
            <a:endParaRPr lang="en-US" altLang="en-US" sz="35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sz="3500">
                <a:latin typeface="Times New Roman" panose="02020603050405020304" pitchFamily="18" charset="0"/>
                <a:cs typeface="Times New Roman" panose="02020603050405020304" pitchFamily="18" charset="0"/>
              </a:rPr>
              <a:t>Python: The proposed intrusion detection system is implemented using Python, so Python must be installed on the system. It is recommended to use the latest stable version such as Python 3.9 or above for better compatibility with deep learning frameworks.</a:t>
            </a:r>
            <a:endParaRPr lang="en-US" altLang="en-US" sz="35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sz="3500">
                <a:latin typeface="Times New Roman" panose="02020603050405020304" pitchFamily="18" charset="0"/>
                <a:cs typeface="Times New Roman" panose="02020603050405020304" pitchFamily="18" charset="0"/>
              </a:rPr>
              <a:t>Deep Learning Libraries: TensorFlow or PyTorch is used for building and training thehybrid CNN-LSTM model and GAN-based data augmentation framework.</a:t>
            </a:r>
            <a:endParaRPr lang="en-US" altLang="en-US" sz="35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sz="3500">
                <a:latin typeface="Times New Roman" panose="02020603050405020304" pitchFamily="18" charset="0"/>
                <a:cs typeface="Times New Roman" panose="02020603050405020304" pitchFamily="18" charset="0"/>
              </a:rPr>
              <a:t>Data Processing Libraries: NumPy and Pandas are used for preprocessing CPS network traffic data, feature handling, and dataset manipulation.</a:t>
            </a:r>
            <a:endParaRPr lang="en-US" altLang="en-US" sz="3500">
              <a:latin typeface="Times New Roman" panose="02020603050405020304" pitchFamily="18" charset="0"/>
              <a:cs typeface="Times New Roman" panose="02020603050405020304" pitchFamily="18" charset="0"/>
            </a:endParaRPr>
          </a:p>
          <a:p>
            <a:pPr marL="285750" indent="-285750" algn="just">
              <a:buFont typeface="Wingdings" panose="05000000000000000000" charset="0"/>
              <a:buChar char="Ø"/>
            </a:pPr>
            <a:r>
              <a:rPr lang="en-US" altLang="en-US" sz="3500">
                <a:latin typeface="Times New Roman" panose="02020603050405020304" pitchFamily="18" charset="0"/>
                <a:cs typeface="Times New Roman" panose="02020603050405020304" pitchFamily="18" charset="0"/>
              </a:rPr>
              <a:t>Machine Learning Library: Scikit-learn is used for dataset splitting, normalization, performance evaluation metrics, and confusion matrix generation.</a:t>
            </a:r>
            <a:endParaRPr lang="en-US" altLang="en-US" sz="350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47395" y="442595"/>
            <a:ext cx="16593185" cy="1109980"/>
          </a:xfrm>
        </p:spPr>
        <p:txBody>
          <a:bodyPr wrap="square">
            <a:noAutofit/>
          </a:bodyPr>
          <a:p>
            <a:pPr algn="ctr"/>
            <a:r>
              <a:rPr lang="en-US" sz="6000"/>
              <a:t>Hardware Requirements</a:t>
            </a:r>
            <a:endParaRPr lang="en-US" sz="6000"/>
          </a:p>
        </p:txBody>
      </p:sp>
      <p:sp>
        <p:nvSpPr>
          <p:cNvPr id="3" name="Text Box 2"/>
          <p:cNvSpPr txBox="1"/>
          <p:nvPr/>
        </p:nvSpPr>
        <p:spPr>
          <a:xfrm>
            <a:off x="1612265" y="2653030"/>
            <a:ext cx="15864840" cy="7153910"/>
          </a:xfrm>
          <a:prstGeom prst="rect">
            <a:avLst/>
          </a:prstGeom>
          <a:noFill/>
        </p:spPr>
        <p:txBody>
          <a:bodyPr wrap="square" rtlCol="0">
            <a:noAutofit/>
          </a:bodyPr>
          <a:p>
            <a:pPr marL="285750" indent="-285750">
              <a:buFont typeface="Wingdings" panose="05000000000000000000" charset="0"/>
              <a:buChar char="Ø"/>
            </a:pPr>
            <a:r>
              <a:rPr lang="en-US" altLang="en-US" sz="3500">
                <a:latin typeface="Times New Roman" panose="02020603050405020304" pitchFamily="18" charset="0"/>
                <a:cs typeface="Times New Roman" panose="02020603050405020304" pitchFamily="18" charset="0"/>
              </a:rPr>
              <a:t>CPU: </a:t>
            </a:r>
            <a:endParaRPr lang="en-US" altLang="en-US" sz="3500">
              <a:latin typeface="Times New Roman" panose="02020603050405020304" pitchFamily="18" charset="0"/>
              <a:cs typeface="Times New Roman" panose="02020603050405020304" pitchFamily="18" charset="0"/>
            </a:endParaRPr>
          </a:p>
          <a:p>
            <a:pPr marL="0" indent="0">
              <a:buFont typeface="Wingdings" panose="05000000000000000000" charset="0"/>
              <a:buNone/>
            </a:pPr>
            <a:r>
              <a:rPr lang="en-US" altLang="en-US" sz="3500">
                <a:latin typeface="Times New Roman" panose="02020603050405020304" pitchFamily="18" charset="0"/>
                <a:cs typeface="Times New Roman" panose="02020603050405020304" pitchFamily="18" charset="0"/>
              </a:rPr>
              <a:t>        • Minimum: Quad-core processor clocked at 2.5 GHz</a:t>
            </a:r>
            <a:endParaRPr lang="en-US" altLang="en-US" sz="3500">
              <a:latin typeface="Times New Roman" panose="02020603050405020304" pitchFamily="18" charset="0"/>
              <a:cs typeface="Times New Roman" panose="02020603050405020304" pitchFamily="18" charset="0"/>
            </a:endParaRPr>
          </a:p>
          <a:p>
            <a:pPr marL="0" indent="0">
              <a:buFont typeface="Wingdings" panose="05000000000000000000" charset="0"/>
              <a:buNone/>
            </a:pPr>
            <a:r>
              <a:rPr lang="en-US" altLang="en-US" sz="3500">
                <a:latin typeface="Times New Roman" panose="02020603050405020304" pitchFamily="18" charset="0"/>
                <a:cs typeface="Times New Roman" panose="02020603050405020304" pitchFamily="18" charset="0"/>
              </a:rPr>
              <a:t>        • Maximum: Octa-core processor clocked at 3.5 GHz or higher </a:t>
            </a:r>
            <a:endParaRPr lang="en-US" altLang="en-US" sz="3500">
              <a:latin typeface="Times New Roman" panose="02020603050405020304" pitchFamily="18" charset="0"/>
              <a:cs typeface="Times New Roman" panose="02020603050405020304" pitchFamily="18" charset="0"/>
            </a:endParaRPr>
          </a:p>
          <a:p>
            <a:pPr marL="0" indent="0">
              <a:buFont typeface="Wingdings" panose="05000000000000000000" charset="0"/>
              <a:buNone/>
            </a:pPr>
            <a:r>
              <a:rPr lang="en-US" altLang="en-US" sz="3500">
                <a:latin typeface="Times New Roman" panose="02020603050405020304" pitchFamily="18" charset="0"/>
                <a:cs typeface="Times New Roman" panose="02020603050405020304" pitchFamily="18" charset="0"/>
              </a:rPr>
              <a:t>RAM:</a:t>
            </a:r>
            <a:endParaRPr lang="en-US" altLang="en-US" sz="3500">
              <a:latin typeface="Times New Roman" panose="02020603050405020304" pitchFamily="18" charset="0"/>
              <a:cs typeface="Times New Roman" panose="02020603050405020304" pitchFamily="18" charset="0"/>
            </a:endParaRPr>
          </a:p>
          <a:p>
            <a:pPr marL="0" indent="0">
              <a:buFont typeface="Wingdings" panose="05000000000000000000" charset="0"/>
              <a:buNone/>
            </a:pPr>
            <a:r>
              <a:rPr lang="en-US" altLang="en-US" sz="3500">
                <a:latin typeface="Times New Roman" panose="02020603050405020304" pitchFamily="18" charset="0"/>
                <a:cs typeface="Times New Roman" panose="02020603050405020304" pitchFamily="18" charset="0"/>
              </a:rPr>
              <a:t>        • Minimum: 8GB DDR4 RAM</a:t>
            </a:r>
            <a:endParaRPr lang="en-US" altLang="en-US" sz="3500">
              <a:latin typeface="Times New Roman" panose="02020603050405020304" pitchFamily="18" charset="0"/>
              <a:cs typeface="Times New Roman" panose="02020603050405020304" pitchFamily="18" charset="0"/>
            </a:endParaRPr>
          </a:p>
          <a:p>
            <a:pPr marL="0" indent="0">
              <a:buFont typeface="Wingdings" panose="05000000000000000000" charset="0"/>
              <a:buNone/>
            </a:pPr>
            <a:r>
              <a:rPr lang="en-US" altLang="en-US" sz="3500">
                <a:latin typeface="Times New Roman" panose="02020603050405020304" pitchFamily="18" charset="0"/>
                <a:cs typeface="Times New Roman" panose="02020603050405020304" pitchFamily="18" charset="0"/>
              </a:rPr>
              <a:t>        • Maximum: 32GB DDR4 RAM or more for efficient deep learning training</a:t>
            </a:r>
            <a:endParaRPr lang="en-US" altLang="en-US" sz="350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Ø"/>
            </a:pPr>
            <a:r>
              <a:rPr lang="en-US" altLang="en-US" sz="3500">
                <a:latin typeface="Times New Roman" panose="02020603050405020304" pitchFamily="18" charset="0"/>
                <a:cs typeface="Times New Roman" panose="02020603050405020304" pitchFamily="18" charset="0"/>
              </a:rPr>
              <a:t>STORAGE: </a:t>
            </a:r>
            <a:endParaRPr lang="en-US" altLang="en-US" sz="3500">
              <a:latin typeface="Times New Roman" panose="02020603050405020304" pitchFamily="18" charset="0"/>
              <a:cs typeface="Times New Roman" panose="02020603050405020304" pitchFamily="18" charset="0"/>
            </a:endParaRPr>
          </a:p>
          <a:p>
            <a:pPr marL="0" indent="0">
              <a:buFont typeface="Wingdings" panose="05000000000000000000" charset="0"/>
              <a:buNone/>
            </a:pPr>
            <a:r>
              <a:rPr lang="en-US" altLang="en-US" sz="3500">
                <a:latin typeface="Times New Roman" panose="02020603050405020304" pitchFamily="18" charset="0"/>
                <a:cs typeface="Times New Roman" panose="02020603050405020304" pitchFamily="18" charset="0"/>
              </a:rPr>
              <a:t>        • Minimum: SSD storage with at least 256GB capacity15</a:t>
            </a:r>
            <a:endParaRPr lang="en-US" altLang="en-US" sz="3500">
              <a:latin typeface="Times New Roman" panose="02020603050405020304" pitchFamily="18" charset="0"/>
              <a:cs typeface="Times New Roman" panose="02020603050405020304" pitchFamily="18" charset="0"/>
            </a:endParaRPr>
          </a:p>
          <a:p>
            <a:pPr marL="0" indent="0">
              <a:buFont typeface="Wingdings" panose="05000000000000000000" charset="0"/>
              <a:buNone/>
            </a:pPr>
            <a:r>
              <a:rPr lang="en-US" altLang="en-US" sz="3500">
                <a:latin typeface="Times New Roman" panose="02020603050405020304" pitchFamily="18" charset="0"/>
                <a:cs typeface="Times New Roman" panose="02020603050405020304" pitchFamily="18" charset="0"/>
              </a:rPr>
              <a:t>        • Maximum: SSD with 1TB or higher for faster dataset access and model </a:t>
            </a:r>
            <a:endParaRPr lang="en-US" altLang="en-US" sz="3500">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Ø"/>
            </a:pPr>
            <a:r>
              <a:rPr lang="en-US" altLang="en-US" sz="3500">
                <a:latin typeface="Times New Roman" panose="02020603050405020304" pitchFamily="18" charset="0"/>
                <a:cs typeface="Times New Roman" panose="02020603050405020304" pitchFamily="18" charset="0"/>
              </a:rPr>
              <a:t>GPU: </a:t>
            </a:r>
            <a:endParaRPr lang="en-US" altLang="en-US" sz="3500">
              <a:latin typeface="Times New Roman" panose="02020603050405020304" pitchFamily="18" charset="0"/>
              <a:cs typeface="Times New Roman" panose="02020603050405020304" pitchFamily="18" charset="0"/>
            </a:endParaRPr>
          </a:p>
          <a:p>
            <a:pPr marL="0" indent="0">
              <a:buFont typeface="Wingdings" panose="05000000000000000000" charset="0"/>
              <a:buNone/>
            </a:pPr>
            <a:r>
              <a:rPr lang="en-US" altLang="en-US" sz="3500">
                <a:latin typeface="Times New Roman" panose="02020603050405020304" pitchFamily="18" charset="0"/>
                <a:cs typeface="Times New Roman" panose="02020603050405020304" pitchFamily="18" charset="0"/>
              </a:rPr>
              <a:t>        • Minimum: Integrated GPU or entry-level dedicated GPU</a:t>
            </a:r>
            <a:endParaRPr lang="en-US" altLang="en-US" sz="3500">
              <a:latin typeface="Times New Roman" panose="02020603050405020304" pitchFamily="18" charset="0"/>
              <a:cs typeface="Times New Roman" panose="02020603050405020304" pitchFamily="18" charset="0"/>
            </a:endParaRPr>
          </a:p>
          <a:p>
            <a:pPr marL="0" indent="0">
              <a:buFont typeface="Wingdings" panose="05000000000000000000" charset="0"/>
              <a:buNone/>
            </a:pPr>
            <a:r>
              <a:rPr lang="en-US" altLang="en-US" sz="3500">
                <a:latin typeface="Times New Roman" panose="02020603050405020304" pitchFamily="18" charset="0"/>
                <a:cs typeface="Times New Roman" panose="02020603050405020304" pitchFamily="18" charset="0"/>
              </a:rPr>
              <a:t>        • Maximum: NVIDIA mid to high-end GPU with CUDA support for accelerated deep learning</a:t>
            </a:r>
            <a:endParaRPr lang="en-US" sz="35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5752573" y="379624"/>
            <a:ext cx="6777990" cy="1245870"/>
          </a:xfrm>
          <a:prstGeom prst="rect">
            <a:avLst/>
          </a:prstGeom>
        </p:spPr>
        <p:txBody>
          <a:bodyPr vert="horz" wrap="square" lIns="0" tIns="13335" rIns="0" bIns="0" rtlCol="0">
            <a:spAutoFit/>
          </a:bodyPr>
          <a:lstStyle/>
          <a:p>
            <a:pPr marL="12700">
              <a:lnSpc>
                <a:spcPct val="100000"/>
              </a:lnSpc>
              <a:spcBef>
                <a:spcPts val="105"/>
              </a:spcBef>
            </a:pPr>
            <a:r>
              <a:rPr sz="8000" b="1" dirty="0">
                <a:latin typeface="+mj-lt"/>
              </a:rPr>
              <a:t>Methodology</a:t>
            </a:r>
            <a:endParaRPr sz="8000" b="1" dirty="0">
              <a:latin typeface="+mj-lt"/>
            </a:endParaRPr>
          </a:p>
        </p:txBody>
      </p:sp>
      <p:sp>
        <p:nvSpPr>
          <p:cNvPr id="3" name="object 3"/>
          <p:cNvSpPr txBox="1"/>
          <p:nvPr/>
        </p:nvSpPr>
        <p:spPr>
          <a:xfrm>
            <a:off x="975179" y="1634672"/>
            <a:ext cx="6378575" cy="939800"/>
          </a:xfrm>
          <a:prstGeom prst="rect">
            <a:avLst/>
          </a:prstGeom>
        </p:spPr>
        <p:txBody>
          <a:bodyPr vert="horz" wrap="square" lIns="0" tIns="12700" rIns="0" bIns="0" rtlCol="0">
            <a:spAutoFit/>
          </a:bodyPr>
          <a:lstStyle/>
          <a:p>
            <a:pPr marL="12700">
              <a:lnSpc>
                <a:spcPct val="100000"/>
              </a:lnSpc>
              <a:spcBef>
                <a:spcPts val="100"/>
              </a:spcBef>
            </a:pPr>
            <a:r>
              <a:rPr sz="6000" b="1" dirty="0">
                <a:latin typeface="+mn-lt"/>
                <a:cs typeface="Arial Black" panose="020B0A04020102020204"/>
              </a:rPr>
              <a:t>Usecase Diagram</a:t>
            </a:r>
            <a:endParaRPr sz="6000" b="1" dirty="0">
              <a:latin typeface="+mn-lt"/>
              <a:cs typeface="Arial Black" panose="020B0A04020102020204"/>
            </a:endParaRPr>
          </a:p>
        </p:txBody>
      </p:sp>
      <p:pic>
        <p:nvPicPr>
          <p:cNvPr id="4" name="Picture 3"/>
          <p:cNvPicPr>
            <a:picLocks noChangeAspect="1"/>
          </p:cNvPicPr>
          <p:nvPr/>
        </p:nvPicPr>
        <p:blipFill>
          <a:blip r:embed="rId1"/>
          <a:stretch>
            <a:fillRect/>
          </a:stretch>
        </p:blipFill>
        <p:spPr>
          <a:xfrm>
            <a:off x="2057400" y="2781300"/>
            <a:ext cx="14216380" cy="61245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5668" y="-429986"/>
            <a:ext cx="15440025" cy="2444181"/>
          </a:xfrm>
          <a:prstGeom prst="rect">
            <a:avLst/>
          </a:prstGeom>
        </p:spPr>
        <p:txBody>
          <a:bodyPr vert="horz" wrap="square" lIns="0" tIns="1079423" rIns="0" bIns="0" rtlCol="0">
            <a:spAutoFit/>
          </a:bodyPr>
          <a:lstStyle/>
          <a:p>
            <a:pPr marL="3142615" algn="l">
              <a:lnSpc>
                <a:spcPct val="100000"/>
              </a:lnSpc>
              <a:spcBef>
                <a:spcPts val="105"/>
              </a:spcBef>
            </a:pPr>
            <a:r>
              <a:rPr sz="8800" b="1" dirty="0">
                <a:latin typeface="+mj-lt"/>
              </a:rPr>
              <a:t>Class Diagram</a:t>
            </a:r>
            <a:endParaRPr sz="8800" b="1" dirty="0">
              <a:latin typeface="+mj-lt"/>
            </a:endParaRPr>
          </a:p>
        </p:txBody>
      </p:sp>
      <p:pic>
        <p:nvPicPr>
          <p:cNvPr id="4" name="Picture 3" descr="A diagram of a process&#10;&#10;AI-generated content may be incorrect."/>
          <p:cNvPicPr>
            <a:picLocks noChangeAspect="1"/>
          </p:cNvPicPr>
          <p:nvPr/>
        </p:nvPicPr>
        <p:blipFill>
          <a:blip r:embed="rId1"/>
          <a:stretch>
            <a:fillRect/>
          </a:stretch>
        </p:blipFill>
        <p:spPr>
          <a:xfrm>
            <a:off x="5151664" y="2234294"/>
            <a:ext cx="9290956" cy="7634967"/>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514600" y="-114300"/>
            <a:ext cx="15440025" cy="1731038"/>
          </a:xfrm>
          <a:prstGeom prst="rect">
            <a:avLst/>
          </a:prstGeom>
        </p:spPr>
        <p:txBody>
          <a:bodyPr vert="horz" wrap="square" lIns="0" tIns="373177" rIns="0" bIns="0" rtlCol="0">
            <a:spAutoFit/>
          </a:bodyPr>
          <a:lstStyle/>
          <a:p>
            <a:pPr marL="1882140" algn="l">
              <a:lnSpc>
                <a:spcPct val="100000"/>
              </a:lnSpc>
              <a:spcBef>
                <a:spcPts val="100"/>
              </a:spcBef>
            </a:pPr>
            <a:r>
              <a:rPr sz="8800" b="1" dirty="0">
                <a:latin typeface="+mj-lt"/>
              </a:rPr>
              <a:t>Sequence Diagram</a:t>
            </a:r>
            <a:endParaRPr sz="8800" b="1" dirty="0">
              <a:latin typeface="+mj-lt"/>
            </a:endParaRPr>
          </a:p>
        </p:txBody>
      </p:sp>
      <p:pic>
        <p:nvPicPr>
          <p:cNvPr id="4" name="Picture 3" descr="A diagram of a process&#10;&#10;AI-generated content may be incorrect."/>
          <p:cNvPicPr>
            <a:picLocks noChangeAspect="1"/>
          </p:cNvPicPr>
          <p:nvPr/>
        </p:nvPicPr>
        <p:blipFill>
          <a:blip r:embed="rId1"/>
          <a:stretch>
            <a:fillRect/>
          </a:stretch>
        </p:blipFill>
        <p:spPr>
          <a:xfrm>
            <a:off x="1473360" y="1632857"/>
            <a:ext cx="15341281" cy="8143876"/>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568779" y="664029"/>
            <a:ext cx="5704115" cy="1269040"/>
          </a:xfrm>
          <a:prstGeom prst="rect">
            <a:avLst/>
          </a:prstGeom>
        </p:spPr>
        <p:txBody>
          <a:bodyPr vert="horz" wrap="square" lIns="0" tIns="260071" rIns="0" bIns="0" rtlCol="0" anchor="t">
            <a:spAutoFit/>
          </a:bodyPr>
          <a:lstStyle/>
          <a:p>
            <a:pPr marL="5823585" marR="5080" indent="-5598160">
              <a:lnSpc>
                <a:spcPct val="116000"/>
              </a:lnSpc>
              <a:spcBef>
                <a:spcPts val="95"/>
              </a:spcBef>
            </a:pPr>
            <a:r>
              <a:rPr sz="6000" b="1" dirty="0">
                <a:latin typeface="+mj-lt"/>
              </a:rPr>
              <a:t>Activity Diagram</a:t>
            </a:r>
            <a:endParaRPr sz="6000" b="1" dirty="0">
              <a:latin typeface="+mj-lt"/>
            </a:endParaRPr>
          </a:p>
        </p:txBody>
      </p:sp>
      <p:pic>
        <p:nvPicPr>
          <p:cNvPr id="4" name="Picture 3" descr="A diagram of a process flow&#10;&#10;AI-generated content may be incorrect."/>
          <p:cNvPicPr>
            <a:picLocks noChangeAspect="1"/>
          </p:cNvPicPr>
          <p:nvPr/>
        </p:nvPicPr>
        <p:blipFill>
          <a:blip r:embed="rId1"/>
          <a:stretch>
            <a:fillRect/>
          </a:stretch>
        </p:blipFill>
        <p:spPr>
          <a:xfrm>
            <a:off x="7253275" y="285750"/>
            <a:ext cx="7781949" cy="9680408"/>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50380" y="5443"/>
            <a:ext cx="15440025" cy="1867101"/>
          </a:xfrm>
          <a:prstGeom prst="rect">
            <a:avLst/>
          </a:prstGeom>
        </p:spPr>
        <p:txBody>
          <a:bodyPr vert="horz" wrap="square" lIns="0" tIns="629844" rIns="0" bIns="0" rtlCol="0">
            <a:spAutoFit/>
          </a:bodyPr>
          <a:lstStyle/>
          <a:p>
            <a:pPr marL="1149350" algn="ctr">
              <a:lnSpc>
                <a:spcPct val="100000"/>
              </a:lnSpc>
              <a:spcBef>
                <a:spcPts val="105"/>
              </a:spcBef>
            </a:pPr>
            <a:r>
              <a:rPr sz="8000" b="1" dirty="0">
                <a:latin typeface="+mj-lt"/>
              </a:rPr>
              <a:t>Deployment Diagram</a:t>
            </a:r>
            <a:endParaRPr sz="8000" b="1" dirty="0">
              <a:latin typeface="+mj-lt"/>
            </a:endParaRPr>
          </a:p>
        </p:txBody>
      </p:sp>
      <p:pic>
        <p:nvPicPr>
          <p:cNvPr id="4" name="Picture 3" descr="A diagram of a cloud service&#10;&#10;AI-generated content may be incorrect."/>
          <p:cNvPicPr>
            <a:picLocks noChangeAspect="1"/>
          </p:cNvPicPr>
          <p:nvPr/>
        </p:nvPicPr>
        <p:blipFill>
          <a:blip r:embed="rId1"/>
          <a:stretch>
            <a:fillRect/>
          </a:stretch>
        </p:blipFill>
        <p:spPr>
          <a:xfrm>
            <a:off x="1245053" y="2517279"/>
            <a:ext cx="15512144" cy="694653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590" y="6014"/>
            <a:ext cx="8582025" cy="1493153"/>
          </a:xfrm>
          <a:prstGeom prst="rect">
            <a:avLst/>
          </a:prstGeom>
        </p:spPr>
        <p:txBody>
          <a:bodyPr vert="horz" wrap="square" lIns="0" tIns="381432" rIns="0" bIns="0" rtlCol="0" anchor="t">
            <a:spAutoFit/>
          </a:bodyPr>
          <a:lstStyle/>
          <a:p>
            <a:pPr marL="1635760" algn="l">
              <a:lnSpc>
                <a:spcPct val="100000"/>
              </a:lnSpc>
              <a:spcBef>
                <a:spcPts val="105"/>
              </a:spcBef>
            </a:pPr>
            <a:r>
              <a:rPr sz="7200" b="1" spc="-700" dirty="0">
                <a:latin typeface="+mj-lt"/>
              </a:rPr>
              <a:t>Component</a:t>
            </a:r>
            <a:r>
              <a:rPr sz="7200" b="1" spc="495" dirty="0">
                <a:latin typeface="+mj-lt"/>
              </a:rPr>
              <a:t> </a:t>
            </a:r>
            <a:r>
              <a:rPr sz="7200" b="1" spc="-680" dirty="0">
                <a:latin typeface="+mj-lt"/>
              </a:rPr>
              <a:t>Diagram</a:t>
            </a:r>
            <a:endParaRPr lang="en-US" sz="7200" b="1" spc="-680">
              <a:latin typeface="+mj-lt"/>
              <a:ea typeface="Calibri" panose="020F0502020204030204"/>
            </a:endParaRPr>
          </a:p>
        </p:txBody>
      </p:sp>
      <p:pic>
        <p:nvPicPr>
          <p:cNvPr id="9" name="Picture 8" descr="A diagram of a software development process&#10;&#10;AI-generated content may be incorrect."/>
          <p:cNvPicPr>
            <a:picLocks noChangeAspect="1"/>
          </p:cNvPicPr>
          <p:nvPr/>
        </p:nvPicPr>
        <p:blipFill>
          <a:blip r:embed="rId1"/>
          <a:stretch>
            <a:fillRect/>
          </a:stretch>
        </p:blipFill>
        <p:spPr>
          <a:xfrm>
            <a:off x="9129461" y="356684"/>
            <a:ext cx="6806867" cy="9653841"/>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26054" y="114300"/>
            <a:ext cx="15440025" cy="1343881"/>
          </a:xfrm>
          <a:prstGeom prst="rect">
            <a:avLst/>
          </a:prstGeom>
        </p:spPr>
        <p:txBody>
          <a:bodyPr vert="horz" wrap="square" lIns="0" tIns="111684" rIns="0" bIns="0" rtlCol="0">
            <a:spAutoFit/>
          </a:bodyPr>
          <a:lstStyle/>
          <a:p>
            <a:pPr marL="2546985">
              <a:lnSpc>
                <a:spcPct val="100000"/>
              </a:lnSpc>
              <a:spcBef>
                <a:spcPts val="105"/>
              </a:spcBef>
            </a:pPr>
            <a:r>
              <a:rPr sz="8000" b="1" dirty="0">
                <a:latin typeface="+mj-lt"/>
              </a:rPr>
              <a:t>State Machine</a:t>
            </a:r>
            <a:endParaRPr sz="8000" b="1" dirty="0">
              <a:latin typeface="+mj-lt"/>
            </a:endParaRPr>
          </a:p>
        </p:txBody>
      </p:sp>
      <p:pic>
        <p:nvPicPr>
          <p:cNvPr id="5" name="Picture 4" descr="A diagram of a training process&#10;&#10;AI-generated content may be incorrect."/>
          <p:cNvPicPr>
            <a:picLocks noChangeAspect="1"/>
          </p:cNvPicPr>
          <p:nvPr/>
        </p:nvPicPr>
        <p:blipFill>
          <a:blip r:embed="rId1"/>
          <a:stretch>
            <a:fillRect/>
          </a:stretch>
        </p:blipFill>
        <p:spPr>
          <a:xfrm>
            <a:off x="7649735" y="408213"/>
            <a:ext cx="4571970" cy="947952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ext Box 1"/>
          <p:cNvSpPr txBox="1"/>
          <p:nvPr/>
        </p:nvSpPr>
        <p:spPr>
          <a:xfrm>
            <a:off x="3926205" y="6255385"/>
            <a:ext cx="6096000" cy="368300"/>
          </a:xfrm>
          <a:prstGeom prst="rect">
            <a:avLst/>
          </a:prstGeom>
          <a:noFill/>
        </p:spPr>
        <p:txBody>
          <a:bodyPr wrap="square" rtlCol="0">
            <a:spAutoFit/>
          </a:bodyPr>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wrap="square">
            <a:noAutofit/>
          </a:bodyPr>
          <a:p>
            <a:pPr algn="l"/>
            <a:r>
              <a:rPr lang="en-US" sz="6000" b="1"/>
              <a:t>Performance Analysis</a:t>
            </a:r>
            <a:endParaRPr lang="en-US" sz="6000" b="1"/>
          </a:p>
        </p:txBody>
      </p:sp>
      <p:pic>
        <p:nvPicPr>
          <p:cNvPr id="8" name="Content Placeholder 7" descr="WhatsApp Image 2026-03-28 at 5.56.27 PM"/>
          <p:cNvPicPr>
            <a:picLocks noChangeAspect="1"/>
          </p:cNvPicPr>
          <p:nvPr>
            <p:ph sz="half" idx="3"/>
          </p:nvPr>
        </p:nvPicPr>
        <p:blipFill>
          <a:blip r:embed="rId1"/>
          <a:stretch>
            <a:fillRect/>
          </a:stretch>
        </p:blipFill>
        <p:spPr>
          <a:xfrm>
            <a:off x="9418320" y="2375535"/>
            <a:ext cx="8413750" cy="6698615"/>
          </a:xfrm>
          <a:prstGeom prst="rect">
            <a:avLst/>
          </a:prstGeom>
        </p:spPr>
      </p:pic>
      <p:pic>
        <p:nvPicPr>
          <p:cNvPr id="6" name="Content Placeholder 5" descr="WhatsApp Image 2026-03-28 at 5.56.26 PM"/>
          <p:cNvPicPr>
            <a:picLocks noChangeAspect="1"/>
          </p:cNvPicPr>
          <p:nvPr>
            <p:ph sz="half" idx="2"/>
          </p:nvPr>
        </p:nvPicPr>
        <p:blipFill>
          <a:blip r:embed="rId2"/>
          <a:srcRect l="17045" r="17045"/>
          <a:stretch>
            <a:fillRect/>
          </a:stretch>
        </p:blipFill>
        <p:spPr>
          <a:xfrm>
            <a:off x="680085" y="2366010"/>
            <a:ext cx="8369935" cy="678942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Title 10"/>
          <p:cNvSpPr>
            <a:spLocks noGrp="1"/>
          </p:cNvSpPr>
          <p:nvPr>
            <p:ph type="title"/>
          </p:nvPr>
        </p:nvSpPr>
        <p:spPr/>
        <p:txBody>
          <a:bodyPr/>
          <a:p>
            <a:endParaRPr lang="en-US"/>
          </a:p>
        </p:txBody>
      </p:sp>
      <p:pic>
        <p:nvPicPr>
          <p:cNvPr id="13" name="Content Placeholder 12" descr="WhatsApp Image 2026-04-11 at 8.31.57 AM"/>
          <p:cNvPicPr>
            <a:picLocks noChangeAspect="1"/>
          </p:cNvPicPr>
          <p:nvPr>
            <p:ph sz="half" idx="3"/>
          </p:nvPr>
        </p:nvPicPr>
        <p:blipFill>
          <a:blip r:embed="rId1"/>
          <a:stretch>
            <a:fillRect/>
          </a:stretch>
        </p:blipFill>
        <p:spPr>
          <a:xfrm>
            <a:off x="9144000" y="2186940"/>
            <a:ext cx="8278495" cy="6454775"/>
          </a:xfrm>
          <a:prstGeom prst="rect">
            <a:avLst/>
          </a:prstGeom>
        </p:spPr>
      </p:pic>
      <p:pic>
        <p:nvPicPr>
          <p:cNvPr id="10" name="Content Placeholder 9" descr="WhatsApp Image 2026-04-11 at 8.31.56 AM"/>
          <p:cNvPicPr>
            <a:picLocks noChangeAspect="1"/>
          </p:cNvPicPr>
          <p:nvPr>
            <p:ph sz="half" idx="2"/>
          </p:nvPr>
        </p:nvPicPr>
        <p:blipFill>
          <a:blip r:embed="rId2"/>
          <a:srcRect l="4387" r="4387"/>
          <a:stretch>
            <a:fillRect/>
          </a:stretch>
        </p:blipFill>
        <p:spPr>
          <a:xfrm>
            <a:off x="914400" y="2366010"/>
            <a:ext cx="7955280" cy="67894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5" name="Content Placeholder 4" descr="C:/Users/somai/OneDrive/Documents/Pictures/Screenshots/WhatsApp Image 2026-04-11 at 8.31.57 AM.jpegWhatsApp Image 2026-04-11 at 8.31.57 AM"/>
          <p:cNvPicPr>
            <a:picLocks noChangeAspect="1"/>
          </p:cNvPicPr>
          <p:nvPr>
            <p:ph sz="half" idx="2"/>
          </p:nvPr>
        </p:nvPicPr>
        <p:blipFill>
          <a:blip r:embed="rId1"/>
          <a:srcRect l="364" r="364"/>
          <a:stretch>
            <a:fillRect/>
          </a:stretch>
        </p:blipFill>
        <p:spPr>
          <a:xfrm>
            <a:off x="4105910" y="1757045"/>
            <a:ext cx="10040620" cy="6305550"/>
          </a:xfrm>
          <a:prstGeom prst="rect">
            <a:avLst/>
          </a:prstGeom>
        </p:spPr>
      </p:pic>
      <p:sp>
        <p:nvSpPr>
          <p:cNvPr id="4" name="Content Placeholder 3"/>
          <p:cNvSpPr>
            <a:spLocks noGrp="1"/>
          </p:cNvSpPr>
          <p:nvPr>
            <p:ph sz="half" idx="3"/>
          </p:nvPr>
        </p:nvSpPr>
        <p:spPr/>
        <p:txBody>
          <a:bodyPr/>
          <a:p>
            <a:endParaRPr lang="en-US"/>
          </a:p>
        </p:txBody>
      </p:sp>
      <p:sp>
        <p:nvSpPr>
          <p:cNvPr id="6" name="Text Box 5"/>
          <p:cNvSpPr txBox="1"/>
          <p:nvPr/>
        </p:nvSpPr>
        <p:spPr>
          <a:xfrm>
            <a:off x="1882775" y="4325620"/>
            <a:ext cx="6096000" cy="368300"/>
          </a:xfrm>
          <a:prstGeom prst="rect">
            <a:avLst/>
          </a:prstGeom>
          <a:noFill/>
        </p:spPr>
        <p:txBody>
          <a:bodyPr wrap="square" rtlCol="0">
            <a:spAutoFit/>
          </a:bodyPr>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4768" y="275448"/>
            <a:ext cx="5009515" cy="1260475"/>
          </a:xfrm>
          <a:prstGeom prst="rect">
            <a:avLst/>
          </a:prstGeom>
        </p:spPr>
        <p:txBody>
          <a:bodyPr vert="horz" wrap="square" lIns="0" tIns="12700" rIns="0" bIns="0" rtlCol="0">
            <a:spAutoFit/>
          </a:bodyPr>
          <a:lstStyle/>
          <a:p>
            <a:pPr marL="12700">
              <a:lnSpc>
                <a:spcPct val="100000"/>
              </a:lnSpc>
              <a:spcBef>
                <a:spcPts val="100"/>
              </a:spcBef>
            </a:pPr>
            <a:r>
              <a:rPr sz="8000" b="1" spc="-150" dirty="0">
                <a:latin typeface="+mj-lt"/>
                <a:cs typeface="Times New Roman" panose="02020603050405020304"/>
              </a:rPr>
              <a:t>References:</a:t>
            </a:r>
            <a:endParaRPr sz="8000" spc="-150" dirty="0">
              <a:latin typeface="+mj-lt"/>
              <a:cs typeface="Times New Roman" panose="02020603050405020304"/>
            </a:endParaRPr>
          </a:p>
        </p:txBody>
      </p:sp>
      <p:sp>
        <p:nvSpPr>
          <p:cNvPr id="3" name="object 3"/>
          <p:cNvSpPr txBox="1"/>
          <p:nvPr/>
        </p:nvSpPr>
        <p:spPr>
          <a:xfrm>
            <a:off x="609781" y="1257211"/>
            <a:ext cx="16848366" cy="8778240"/>
          </a:xfrm>
          <a:prstGeom prst="rect">
            <a:avLst/>
          </a:prstGeom>
        </p:spPr>
        <p:txBody>
          <a:bodyPr vert="horz" wrap="square" lIns="0" tIns="77470" rIns="0" bIns="0" rtlCol="0">
            <a:spAutoFit/>
          </a:bodyPr>
          <a:lstStyle/>
          <a:p>
            <a:pPr marL="12700" marR="7620" algn="just">
              <a:lnSpc>
                <a:spcPts val="3740"/>
              </a:lnSpc>
              <a:spcBef>
                <a:spcPts val="610"/>
              </a:spcBef>
            </a:pPr>
            <a:r>
              <a:rPr lang="en-IN" sz="2800" dirty="0">
                <a:latin typeface="Times New Roman" panose="02020603050405020304" pitchFamily="18" charset="0"/>
                <a:cs typeface="Times New Roman" panose="02020603050405020304" pitchFamily="18" charset="0"/>
              </a:rPr>
              <a:t>[1]  G. </a:t>
            </a:r>
            <a:r>
              <a:rPr lang="en-IN" sz="2800" dirty="0" err="1">
                <a:latin typeface="Times New Roman" panose="02020603050405020304" pitchFamily="18" charset="0"/>
                <a:cs typeface="Times New Roman" panose="02020603050405020304" pitchFamily="18" charset="0"/>
              </a:rPr>
              <a:t>Lampropoulos</a:t>
            </a:r>
            <a:r>
              <a:rPr lang="en-IN" sz="2800" dirty="0">
                <a:latin typeface="Times New Roman" panose="02020603050405020304" pitchFamily="18" charset="0"/>
                <a:cs typeface="Times New Roman" panose="02020603050405020304" pitchFamily="18" charset="0"/>
              </a:rPr>
              <a:t> and K. </a:t>
            </a:r>
            <a:r>
              <a:rPr lang="en-IN" sz="2800" dirty="0" err="1">
                <a:latin typeface="Times New Roman" panose="02020603050405020304" pitchFamily="18" charset="0"/>
                <a:cs typeface="Times New Roman" panose="02020603050405020304" pitchFamily="18" charset="0"/>
              </a:rPr>
              <a:t>Siakas</a:t>
            </a:r>
            <a:r>
              <a:rPr lang="en-IN" sz="2800" dirty="0">
                <a:latin typeface="Times New Roman" panose="02020603050405020304" pitchFamily="18" charset="0"/>
                <a:cs typeface="Times New Roman" panose="02020603050405020304" pitchFamily="18" charset="0"/>
              </a:rPr>
              <a:t>, “Enhancing and securing cyber-physical systems and Industry 4.0 through digital twins: A critical review,” Journal of software: evolution and process, vol. 35, no. 7, p. e2494, 2023. </a:t>
            </a:r>
            <a:endParaRPr lang="en-IN" sz="2800" dirty="0">
              <a:latin typeface="Times New Roman" panose="02020603050405020304" pitchFamily="18" charset="0"/>
              <a:cs typeface="Times New Roman" panose="02020603050405020304" pitchFamily="18" charset="0"/>
            </a:endParaRPr>
          </a:p>
          <a:p>
            <a:pPr marL="12700" marR="7620" algn="just">
              <a:lnSpc>
                <a:spcPts val="3740"/>
              </a:lnSpc>
              <a:spcBef>
                <a:spcPts val="610"/>
              </a:spcBef>
            </a:pPr>
            <a:r>
              <a:rPr lang="en-IN" sz="2800" dirty="0">
                <a:latin typeface="Times New Roman" panose="02020603050405020304" pitchFamily="18" charset="0"/>
                <a:cs typeface="Times New Roman" panose="02020603050405020304" pitchFamily="18" charset="0"/>
              </a:rPr>
              <a:t>[2]  B. A. </a:t>
            </a:r>
            <a:r>
              <a:rPr lang="en-IN" sz="2800" dirty="0" err="1">
                <a:latin typeface="Times New Roman" panose="02020603050405020304" pitchFamily="18" charset="0"/>
                <a:cs typeface="Times New Roman" panose="02020603050405020304" pitchFamily="18" charset="0"/>
              </a:rPr>
              <a:t>Salau</a:t>
            </a:r>
            <a:r>
              <a:rPr lang="en-IN" sz="2800" dirty="0">
                <a:latin typeface="Times New Roman" panose="02020603050405020304" pitchFamily="18" charset="0"/>
                <a:cs typeface="Times New Roman" panose="02020603050405020304" pitchFamily="18" charset="0"/>
              </a:rPr>
              <a:t>, A. </a:t>
            </a:r>
            <a:r>
              <a:rPr lang="en-IN" sz="2800" dirty="0" err="1">
                <a:latin typeface="Times New Roman" panose="02020603050405020304" pitchFamily="18" charset="0"/>
                <a:cs typeface="Times New Roman" panose="02020603050405020304" pitchFamily="18" charset="0"/>
              </a:rPr>
              <a:t>Rawal</a:t>
            </a:r>
            <a:r>
              <a:rPr lang="en-IN" sz="2800" dirty="0">
                <a:latin typeface="Times New Roman" panose="02020603050405020304" pitchFamily="18" charset="0"/>
                <a:cs typeface="Times New Roman" panose="02020603050405020304" pitchFamily="18" charset="0"/>
              </a:rPr>
              <a:t>, and D. B. </a:t>
            </a:r>
            <a:r>
              <a:rPr lang="en-IN" sz="2800" dirty="0" err="1">
                <a:latin typeface="Times New Roman" panose="02020603050405020304" pitchFamily="18" charset="0"/>
                <a:cs typeface="Times New Roman" panose="02020603050405020304" pitchFamily="18" charset="0"/>
              </a:rPr>
              <a:t>Rawat</a:t>
            </a:r>
            <a:r>
              <a:rPr lang="en-IN" sz="2800" dirty="0">
                <a:latin typeface="Times New Roman" panose="02020603050405020304" pitchFamily="18" charset="0"/>
                <a:cs typeface="Times New Roman" panose="02020603050405020304" pitchFamily="18" charset="0"/>
              </a:rPr>
              <a:t>, “Recent advances in artificial intelligence for wireless internet of things and cyber–physical systems: A comprehensive survey,” IEEE Internet Things J, vol. 9, no. 15, pp. 12916–12930, 2022. </a:t>
            </a:r>
            <a:endParaRPr lang="en-IN" sz="2800" dirty="0">
              <a:latin typeface="Times New Roman" panose="02020603050405020304" pitchFamily="18" charset="0"/>
              <a:cs typeface="Times New Roman" panose="02020603050405020304" pitchFamily="18" charset="0"/>
            </a:endParaRPr>
          </a:p>
          <a:p>
            <a:pPr marL="12700" marR="7620" algn="just">
              <a:lnSpc>
                <a:spcPts val="3740"/>
              </a:lnSpc>
              <a:spcBef>
                <a:spcPts val="610"/>
              </a:spcBef>
            </a:pPr>
            <a:r>
              <a:rPr lang="en-IN" sz="2800" dirty="0">
                <a:latin typeface="Times New Roman" panose="02020603050405020304" pitchFamily="18" charset="0"/>
                <a:cs typeface="Times New Roman" panose="02020603050405020304" pitchFamily="18" charset="0"/>
              </a:rPr>
              <a:t>[3]  P. </a:t>
            </a:r>
            <a:r>
              <a:rPr lang="en-IN" sz="2800" dirty="0" err="1">
                <a:latin typeface="Times New Roman" panose="02020603050405020304" pitchFamily="18" charset="0"/>
                <a:cs typeface="Times New Roman" panose="02020603050405020304" pitchFamily="18" charset="0"/>
              </a:rPr>
              <a:t>Marwedel</a:t>
            </a:r>
            <a:r>
              <a:rPr lang="en-IN" sz="2800" dirty="0">
                <a:latin typeface="Times New Roman" panose="02020603050405020304" pitchFamily="18" charset="0"/>
                <a:cs typeface="Times New Roman" panose="02020603050405020304" pitchFamily="18" charset="0"/>
              </a:rPr>
              <a:t>, Embedded system design: embedded systems foundations of cyber-physical systems, and the internet of things. Springer Nature, 2021. </a:t>
            </a:r>
            <a:endParaRPr lang="en-IN" sz="2800" dirty="0">
              <a:latin typeface="Times New Roman" panose="02020603050405020304" pitchFamily="18" charset="0"/>
              <a:cs typeface="Times New Roman" panose="02020603050405020304" pitchFamily="18" charset="0"/>
            </a:endParaRPr>
          </a:p>
          <a:p>
            <a:pPr marL="12700" marR="7620" algn="just">
              <a:lnSpc>
                <a:spcPts val="3740"/>
              </a:lnSpc>
              <a:spcBef>
                <a:spcPts val="610"/>
              </a:spcBef>
            </a:pPr>
            <a:r>
              <a:rPr lang="en-IN" sz="2800" dirty="0">
                <a:latin typeface="Times New Roman" panose="02020603050405020304" pitchFamily="18" charset="0"/>
                <a:cs typeface="Times New Roman" panose="02020603050405020304" pitchFamily="18" charset="0"/>
              </a:rPr>
              <a:t>[4]  P. Malhotra, Y. Singh, P. </a:t>
            </a:r>
            <a:r>
              <a:rPr lang="en-IN" sz="2800" dirty="0" err="1">
                <a:latin typeface="Times New Roman" panose="02020603050405020304" pitchFamily="18" charset="0"/>
                <a:cs typeface="Times New Roman" panose="02020603050405020304" pitchFamily="18" charset="0"/>
              </a:rPr>
              <a:t>Anand</a:t>
            </a:r>
            <a:r>
              <a:rPr lang="en-IN" sz="2800" dirty="0">
                <a:latin typeface="Times New Roman" panose="02020603050405020304" pitchFamily="18" charset="0"/>
                <a:cs typeface="Times New Roman" panose="02020603050405020304" pitchFamily="18" charset="0"/>
              </a:rPr>
              <a:t>, D. K. </a:t>
            </a:r>
            <a:r>
              <a:rPr lang="en-IN" sz="2800" dirty="0" err="1">
                <a:latin typeface="Times New Roman" panose="02020603050405020304" pitchFamily="18" charset="0"/>
                <a:cs typeface="Times New Roman" panose="02020603050405020304" pitchFamily="18" charset="0"/>
              </a:rPr>
              <a:t>Bangotra</a:t>
            </a:r>
            <a:r>
              <a:rPr lang="en-IN" sz="2800" dirty="0">
                <a:latin typeface="Times New Roman" panose="02020603050405020304" pitchFamily="18" charset="0"/>
                <a:cs typeface="Times New Roman" panose="02020603050405020304" pitchFamily="18" charset="0"/>
              </a:rPr>
              <a:t>, P. K. Singh, and W.-C. Hong, “Internet of things: Evolution, concerns and security challenges,” Sensors, vol. 21, no. 5, p. 1809, 2021. </a:t>
            </a:r>
            <a:endParaRPr lang="en-IN" sz="2800" dirty="0">
              <a:latin typeface="Times New Roman" panose="02020603050405020304" pitchFamily="18" charset="0"/>
              <a:cs typeface="Times New Roman" panose="02020603050405020304" pitchFamily="18" charset="0"/>
            </a:endParaRPr>
          </a:p>
          <a:p>
            <a:pPr marL="12700" marR="7620" algn="just">
              <a:lnSpc>
                <a:spcPts val="3740"/>
              </a:lnSpc>
              <a:spcBef>
                <a:spcPts val="610"/>
              </a:spcBef>
            </a:pPr>
            <a:r>
              <a:rPr lang="en-IN" sz="2800" dirty="0">
                <a:latin typeface="Times New Roman" panose="02020603050405020304" pitchFamily="18" charset="0"/>
                <a:cs typeface="Times New Roman" panose="02020603050405020304" pitchFamily="18" charset="0"/>
              </a:rPr>
              <a:t>[5]  A. J. Cartwright, “The elephant in the room: cybersecurity in healthcare,” J </a:t>
            </a:r>
            <a:r>
              <a:rPr lang="en-IN" sz="2800" dirty="0" err="1">
                <a:latin typeface="Times New Roman" panose="02020603050405020304" pitchFamily="18" charset="0"/>
                <a:cs typeface="Times New Roman" panose="02020603050405020304" pitchFamily="18" charset="0"/>
              </a:rPr>
              <a:t>Clin</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Monit</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Comput</a:t>
            </a:r>
            <a:r>
              <a:rPr lang="en-IN" sz="2800" dirty="0">
                <a:latin typeface="Times New Roman" panose="02020603050405020304" pitchFamily="18" charset="0"/>
                <a:cs typeface="Times New Roman" panose="02020603050405020304" pitchFamily="18" charset="0"/>
              </a:rPr>
              <a:t>, vol. 37, no. 5, pp. 1123–1132, 2023. </a:t>
            </a:r>
            <a:endParaRPr lang="en-IN" sz="2800" dirty="0">
              <a:latin typeface="Times New Roman" panose="02020603050405020304" pitchFamily="18" charset="0"/>
              <a:cs typeface="Times New Roman" panose="02020603050405020304" pitchFamily="18" charset="0"/>
            </a:endParaRPr>
          </a:p>
          <a:p>
            <a:pPr marL="12700" marR="7620" algn="just">
              <a:lnSpc>
                <a:spcPts val="3740"/>
              </a:lnSpc>
              <a:spcBef>
                <a:spcPts val="610"/>
              </a:spcBef>
            </a:pPr>
            <a:r>
              <a:rPr lang="en-IN" sz="2800" dirty="0">
                <a:latin typeface="Times New Roman" panose="02020603050405020304" pitchFamily="18" charset="0"/>
                <a:cs typeface="Times New Roman" panose="02020603050405020304" pitchFamily="18" charset="0"/>
              </a:rPr>
              <a:t>[6]  G. Belgioioso et al., “Online feedback equilibrium seeking,” IEEE Trans Automat </a:t>
            </a:r>
            <a:r>
              <a:rPr lang="en-IN" sz="2800" dirty="0" err="1">
                <a:latin typeface="Times New Roman" panose="02020603050405020304" pitchFamily="18" charset="0"/>
                <a:cs typeface="Times New Roman" panose="02020603050405020304" pitchFamily="18" charset="0"/>
              </a:rPr>
              <a:t>Contr</a:t>
            </a:r>
            <a:r>
              <a:rPr lang="en-IN" sz="2800" dirty="0">
                <a:latin typeface="Times New Roman" panose="02020603050405020304" pitchFamily="18" charset="0"/>
                <a:cs typeface="Times New Roman" panose="02020603050405020304" pitchFamily="18" charset="0"/>
              </a:rPr>
              <a:t>, 2024. </a:t>
            </a:r>
            <a:endParaRPr lang="en-IN" sz="2800" dirty="0">
              <a:latin typeface="Times New Roman" panose="02020603050405020304" pitchFamily="18" charset="0"/>
              <a:cs typeface="Times New Roman" panose="02020603050405020304" pitchFamily="18" charset="0"/>
            </a:endParaRPr>
          </a:p>
          <a:p>
            <a:pPr marL="12700" marR="7620" algn="just">
              <a:lnSpc>
                <a:spcPts val="3740"/>
              </a:lnSpc>
              <a:spcBef>
                <a:spcPts val="610"/>
              </a:spcBef>
            </a:pPr>
            <a:r>
              <a:rPr lang="en-IN" sz="2800" dirty="0">
                <a:latin typeface="Times New Roman" panose="02020603050405020304" pitchFamily="18" charset="0"/>
                <a:cs typeface="Times New Roman" panose="02020603050405020304" pitchFamily="18" charset="0"/>
              </a:rPr>
              <a:t>[7]  A. A. Jamal, A.-A. M. Majid, A. Konev, T. </a:t>
            </a:r>
            <a:r>
              <a:rPr lang="en-IN" sz="2800" dirty="0" err="1">
                <a:latin typeface="Times New Roman" panose="02020603050405020304" pitchFamily="18" charset="0"/>
                <a:cs typeface="Times New Roman" panose="02020603050405020304" pitchFamily="18" charset="0"/>
              </a:rPr>
              <a:t>Kosachenko</a:t>
            </a:r>
            <a:r>
              <a:rPr lang="en-IN" sz="2800" dirty="0">
                <a:latin typeface="Times New Roman" panose="02020603050405020304" pitchFamily="18" charset="0"/>
                <a:cs typeface="Times New Roman" panose="02020603050405020304" pitchFamily="18" charset="0"/>
              </a:rPr>
              <a:t>, and A. </a:t>
            </a:r>
            <a:r>
              <a:rPr lang="en-IN" sz="2800" dirty="0" err="1">
                <a:latin typeface="Times New Roman" panose="02020603050405020304" pitchFamily="18" charset="0"/>
                <a:cs typeface="Times New Roman" panose="02020603050405020304" pitchFamily="18" charset="0"/>
              </a:rPr>
              <a:t>Shelupanov</a:t>
            </a:r>
            <a:r>
              <a:rPr lang="en-IN" sz="2800" dirty="0">
                <a:latin typeface="Times New Roman" panose="02020603050405020304" pitchFamily="18" charset="0"/>
                <a:cs typeface="Times New Roman" panose="02020603050405020304" pitchFamily="18" charset="0"/>
              </a:rPr>
              <a:t>, “A review on security analysis of cyber physical systems using Machine learning,” Mater Today Proc, vol. 80, pp. 2302–2306, 2023.</a:t>
            </a:r>
            <a:endParaRPr lang="en-IN" sz="2800" dirty="0">
              <a:latin typeface="Times New Roman" panose="02020603050405020304" pitchFamily="18" charset="0"/>
              <a:cs typeface="Times New Roman" panose="02020603050405020304" pitchFamily="18" charset="0"/>
            </a:endParaRPr>
          </a:p>
          <a:p>
            <a:pPr marL="12700" marR="7620" algn="just">
              <a:lnSpc>
                <a:spcPts val="3740"/>
              </a:lnSpc>
              <a:spcBef>
                <a:spcPts val="610"/>
              </a:spcBef>
            </a:pPr>
            <a:r>
              <a:rPr lang="en-IN" sz="2800" dirty="0">
                <a:latin typeface="Times New Roman" panose="02020603050405020304" pitchFamily="18" charset="0"/>
                <a:cs typeface="Times New Roman" panose="02020603050405020304" pitchFamily="18" charset="0"/>
              </a:rPr>
              <a:t>[8]  O. E. </a:t>
            </a:r>
            <a:r>
              <a:rPr lang="en-IN" sz="2800" dirty="0" err="1">
                <a:latin typeface="Times New Roman" panose="02020603050405020304" pitchFamily="18" charset="0"/>
                <a:cs typeface="Times New Roman" panose="02020603050405020304" pitchFamily="18" charset="0"/>
              </a:rPr>
              <a:t>Oluyisola</a:t>
            </a:r>
            <a:r>
              <a:rPr lang="en-IN" sz="2800" dirty="0">
                <a:latin typeface="Times New Roman" panose="02020603050405020304" pitchFamily="18" charset="0"/>
                <a:cs typeface="Times New Roman" panose="02020603050405020304" pitchFamily="18" charset="0"/>
              </a:rPr>
              <a:t>, S. </a:t>
            </a:r>
            <a:r>
              <a:rPr lang="en-IN" sz="2800" dirty="0" err="1">
                <a:latin typeface="Times New Roman" panose="02020603050405020304" pitchFamily="18" charset="0"/>
                <a:cs typeface="Times New Roman" panose="02020603050405020304" pitchFamily="18" charset="0"/>
              </a:rPr>
              <a:t>Bhalla</a:t>
            </a:r>
            <a:r>
              <a:rPr lang="en-IN" sz="2800" dirty="0">
                <a:latin typeface="Times New Roman" panose="02020603050405020304" pitchFamily="18" charset="0"/>
                <a:cs typeface="Times New Roman" panose="02020603050405020304" pitchFamily="18" charset="0"/>
              </a:rPr>
              <a:t>, F. </a:t>
            </a:r>
            <a:r>
              <a:rPr lang="en-IN" sz="2800" dirty="0" err="1">
                <a:latin typeface="Times New Roman" panose="02020603050405020304" pitchFamily="18" charset="0"/>
                <a:cs typeface="Times New Roman" panose="02020603050405020304" pitchFamily="18" charset="0"/>
              </a:rPr>
              <a:t>Sgarbossa</a:t>
            </a:r>
            <a:r>
              <a:rPr lang="en-IN" sz="2800" dirty="0">
                <a:latin typeface="Times New Roman" panose="02020603050405020304" pitchFamily="18" charset="0"/>
                <a:cs typeface="Times New Roman" panose="02020603050405020304" pitchFamily="18" charset="0"/>
              </a:rPr>
              <a:t>, and J. O. </a:t>
            </a:r>
            <a:r>
              <a:rPr lang="en-IN" sz="2800" dirty="0" err="1">
                <a:latin typeface="Times New Roman" panose="02020603050405020304" pitchFamily="18" charset="0"/>
                <a:cs typeface="Times New Roman" panose="02020603050405020304" pitchFamily="18" charset="0"/>
              </a:rPr>
              <a:t>Strandhagen</a:t>
            </a:r>
            <a:r>
              <a:rPr lang="en-IN" sz="2800" dirty="0">
                <a:latin typeface="Times New Roman" panose="02020603050405020304" pitchFamily="18" charset="0"/>
                <a:cs typeface="Times New Roman" panose="02020603050405020304" pitchFamily="18" charset="0"/>
              </a:rPr>
              <a:t>, “Designing and developing smart production planning and control systems in the industry 4.0 era: a methodology and case study,” J </a:t>
            </a:r>
            <a:r>
              <a:rPr lang="en-IN" sz="2800" dirty="0" err="1">
                <a:latin typeface="Times New Roman" panose="02020603050405020304" pitchFamily="18" charset="0"/>
                <a:cs typeface="Times New Roman" panose="02020603050405020304" pitchFamily="18" charset="0"/>
              </a:rPr>
              <a:t>Intell</a:t>
            </a:r>
            <a:r>
              <a:rPr lang="en-IN" sz="2800" dirty="0">
                <a:latin typeface="Times New Roman" panose="02020603050405020304" pitchFamily="18" charset="0"/>
                <a:cs typeface="Times New Roman" panose="02020603050405020304" pitchFamily="18" charset="0"/>
              </a:rPr>
              <a:t> </a:t>
            </a:r>
            <a:r>
              <a:rPr lang="en-IN" sz="2800" dirty="0" err="1">
                <a:latin typeface="Times New Roman" panose="02020603050405020304" pitchFamily="18" charset="0"/>
                <a:cs typeface="Times New Roman" panose="02020603050405020304" pitchFamily="18" charset="0"/>
              </a:rPr>
              <a:t>Manuf</a:t>
            </a:r>
            <a:r>
              <a:rPr lang="en-IN" sz="2800" dirty="0">
                <a:latin typeface="Times New Roman" panose="02020603050405020304" pitchFamily="18" charset="0"/>
                <a:cs typeface="Times New Roman" panose="02020603050405020304" pitchFamily="18" charset="0"/>
              </a:rPr>
              <a:t>, vol. 33, no. 1, pp. 311–332, 2022. </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81929" y="2531186"/>
            <a:ext cx="7727315" cy="3508375"/>
          </a:xfrm>
          <a:prstGeom prst="rect">
            <a:avLst/>
          </a:prstGeom>
        </p:spPr>
        <p:txBody>
          <a:bodyPr vert="horz" wrap="square" lIns="0" tIns="12700" rIns="0" bIns="0" rtlCol="0">
            <a:spAutoFit/>
          </a:bodyPr>
          <a:lstStyle/>
          <a:p>
            <a:pPr algn="ctr">
              <a:lnSpc>
                <a:spcPts val="9240"/>
              </a:lnSpc>
              <a:spcBef>
                <a:spcPts val="100"/>
              </a:spcBef>
            </a:pPr>
            <a:r>
              <a:rPr sz="8100" b="1" spc="-114" dirty="0">
                <a:latin typeface="Times New Roman" panose="02020603050405020304"/>
                <a:cs typeface="Times New Roman" panose="02020603050405020304"/>
              </a:rPr>
              <a:t>Thank</a:t>
            </a:r>
            <a:r>
              <a:rPr sz="8100" b="1" spc="-490" dirty="0">
                <a:latin typeface="Times New Roman" panose="02020603050405020304"/>
                <a:cs typeface="Times New Roman" panose="02020603050405020304"/>
              </a:rPr>
              <a:t> </a:t>
            </a:r>
            <a:r>
              <a:rPr sz="8100" b="1" spc="-10" dirty="0">
                <a:latin typeface="Times New Roman" panose="02020603050405020304"/>
                <a:cs typeface="Times New Roman" panose="02020603050405020304"/>
              </a:rPr>
              <a:t>You…</a:t>
            </a:r>
            <a:endParaRPr sz="8100" dirty="0">
              <a:latin typeface="Times New Roman" panose="02020603050405020304"/>
              <a:cs typeface="Times New Roman" panose="02020603050405020304"/>
            </a:endParaRPr>
          </a:p>
          <a:p>
            <a:pPr marR="242570" algn="ctr">
              <a:lnSpc>
                <a:spcPts val="8850"/>
              </a:lnSpc>
            </a:pPr>
            <a:r>
              <a:rPr sz="8100" b="1" spc="-50" dirty="0">
                <a:latin typeface="Times New Roman" panose="02020603050405020304"/>
                <a:cs typeface="Times New Roman" panose="02020603050405020304"/>
              </a:rPr>
              <a:t>&amp;</a:t>
            </a:r>
            <a:endParaRPr sz="8100" dirty="0">
              <a:latin typeface="Times New Roman" panose="02020603050405020304"/>
              <a:cs typeface="Times New Roman" panose="02020603050405020304"/>
            </a:endParaRPr>
          </a:p>
          <a:p>
            <a:pPr algn="ctr">
              <a:lnSpc>
                <a:spcPts val="9330"/>
              </a:lnSpc>
            </a:pPr>
            <a:r>
              <a:rPr sz="8100" b="1" spc="-20" dirty="0">
                <a:latin typeface="Times New Roman" panose="02020603050405020304"/>
                <a:cs typeface="Times New Roman" panose="02020603050405020304"/>
              </a:rPr>
              <a:t>Any</a:t>
            </a:r>
            <a:r>
              <a:rPr sz="8100" b="1" spc="-500" dirty="0">
                <a:latin typeface="Times New Roman" panose="02020603050405020304"/>
                <a:cs typeface="Times New Roman" panose="02020603050405020304"/>
              </a:rPr>
              <a:t> </a:t>
            </a:r>
            <a:r>
              <a:rPr sz="8100" b="1" spc="-10" dirty="0">
                <a:latin typeface="Times New Roman" panose="02020603050405020304"/>
                <a:cs typeface="Times New Roman" panose="02020603050405020304"/>
              </a:rPr>
              <a:t>Questions…</a:t>
            </a:r>
            <a:endParaRPr sz="8100" dirty="0">
              <a:latin typeface="Times New Roman" panose="02020603050405020304"/>
              <a:cs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A6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15448</Words>
  <Application>WPS Presentation</Application>
  <PresentationFormat>Custom</PresentationFormat>
  <Paragraphs>240</Paragraphs>
  <Slides>28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28</vt:i4>
      </vt:variant>
    </vt:vector>
  </HeadingPairs>
  <TitlesOfParts>
    <vt:vector size="40" baseType="lpstr">
      <vt:lpstr>Arial</vt:lpstr>
      <vt:lpstr>SimSun</vt:lpstr>
      <vt:lpstr>Wingdings</vt:lpstr>
      <vt:lpstr>Arial Black</vt:lpstr>
      <vt:lpstr>Times New Roman</vt:lpstr>
      <vt:lpstr>Calibri</vt:lpstr>
      <vt:lpstr>Times New Roman</vt:lpstr>
      <vt:lpstr>Microsoft YaHei</vt:lpstr>
      <vt:lpstr>Arial Unicode MS</vt:lpstr>
      <vt:lpstr>Calibri</vt:lpstr>
      <vt:lpstr>Wingdings</vt:lpstr>
      <vt:lpstr>Office Theme</vt:lpstr>
      <vt:lpstr>Security analysis of autonomous cyber physical systems using deep learning</vt:lpstr>
      <vt:lpstr>AGENDA</vt:lpstr>
      <vt:lpstr>1.Abstract</vt:lpstr>
      <vt:lpstr>2.Introduction</vt:lpstr>
      <vt:lpstr>PowerPoint 演示文稿</vt:lpstr>
      <vt:lpstr>3.Problem Statement</vt:lpstr>
      <vt:lpstr>4.Existing System</vt:lpstr>
      <vt:lpstr>5.Literature Survey</vt:lpstr>
      <vt:lpstr>6. Proposed System</vt:lpstr>
      <vt:lpstr>Hybrid CNN–LSTM Intrusion Detection Module</vt:lpstr>
      <vt:lpstr>GAN-Based Data Augmentation Module</vt:lpstr>
      <vt:lpstr>PowerPoint 演示文稿</vt:lpstr>
      <vt:lpstr>Key Advantages and Research Gap Addressed</vt:lpstr>
      <vt:lpstr>System Architecture</vt:lpstr>
      <vt:lpstr>PowerPoint 演示文稿</vt:lpstr>
      <vt:lpstr>PowerPoint 演示文稿</vt:lpstr>
      <vt:lpstr>Methodology</vt:lpstr>
      <vt:lpstr>Class Diagram</vt:lpstr>
      <vt:lpstr>Sequence Diagram</vt:lpstr>
      <vt:lpstr>Activity Diagram</vt:lpstr>
      <vt:lpstr>Deployment Diagram</vt:lpstr>
      <vt:lpstr>Component Diagram</vt:lpstr>
      <vt:lpstr>State Machine</vt:lpstr>
      <vt:lpstr>PowerPoint 演示文稿</vt:lpstr>
      <vt:lpstr>PowerPoint 演示文稿</vt:lpstr>
      <vt:lpstr>PowerPoint 演示文稿</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Text Magic Studio Magic Design for Presentations L&amp;P</dc:title>
  <dc:creator>Sankuri Sravani</dc:creator>
  <cp:keywords>DAGyjFuvaXc,BAGi1n_GTCY,0</cp:keywords>
  <cp:lastModifiedBy>WPS_1673846785</cp:lastModifiedBy>
  <cp:revision>295</cp:revision>
  <dcterms:created xsi:type="dcterms:W3CDTF">2026-01-26T09:52:00Z</dcterms:created>
  <dcterms:modified xsi:type="dcterms:W3CDTF">2026-04-11T03:38:22Z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2026-01-26T22:00:00Z</vt:filetime>
  </property>
  <property fmtid="{D5CDD505-2E9C-101B-9397-08002B2CF9AE}" pid="3" name="Creator">
    <vt:lpwstr>Microsoft® Word 2019</vt:lpwstr>
  </property>
  <property fmtid="{D5CDD505-2E9C-101B-9397-08002B2CF9AE}" pid="4" name="LastSaved">
    <vt:filetime>2026-01-26T22:00:00Z</vt:filetime>
  </property>
  <property fmtid="{D5CDD505-2E9C-101B-9397-08002B2CF9AE}" pid="5" name="Producer">
    <vt:lpwstr>Microsoft® Word 2019</vt:lpwstr>
  </property>
  <property fmtid="{D5CDD505-2E9C-101B-9397-08002B2CF9AE}" pid="6" name="ICV">
    <vt:lpwstr>7183816ABD204D81A1F63925586A5981_13</vt:lpwstr>
  </property>
  <property fmtid="{D5CDD505-2E9C-101B-9397-08002B2CF9AE}" pid="7" name="KSOProductBuildVer">
    <vt:lpwstr>1033-12.1.0.25830</vt:lpwstr>
  </property>
</Properties>
</file>